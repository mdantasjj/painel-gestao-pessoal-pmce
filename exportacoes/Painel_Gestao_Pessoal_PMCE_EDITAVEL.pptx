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Demissões</c:v>
                </c:pt>
              </c:strCache>
            </c:strRef>
          </c:tx>
          <c:spPr>
            <a:solidFill>
              <a:srgbClr val="1B8258"/>
            </a:solidFill>
            <a:ln>
              <a:solidFill>
                <a:srgbClr val="1B8258"/>
              </a:solidFill>
            </a:ln>
          </c:spPr>
          <c:cat>
            <c:strRef>
              <c:f>Sheet1!$A$2:$A$9</c:f>
              <c:strCache>
                <c:ptCount val="8"/>
                <c:pt idx="0">
                  <c:v>Jan</c:v>
                </c:pt>
                <c:pt idx="1">
                  <c:v>Fev</c:v>
                </c:pt>
                <c:pt idx="2">
                  <c:v>Mar</c:v>
                </c:pt>
                <c:pt idx="3">
                  <c:v>Abr</c:v>
                </c:pt>
                <c:pt idx="4">
                  <c:v>Mai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</c:v>
                </c:pt>
                <c:pt idx="1">
                  <c:v>2</c:v>
                </c:pt>
                <c:pt idx="2">
                  <c:v>0</c:v>
                </c:pt>
                <c:pt idx="3">
                  <c:v>7</c:v>
                </c:pt>
                <c:pt idx="4">
                  <c:v>143</c:v>
                </c:pt>
                <c:pt idx="5">
                  <c:v>76</c:v>
                </c:pt>
                <c:pt idx="6">
                  <c:v>14</c:v>
                </c:pt>
                <c:pt idx="7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Exonerações</c:v>
                </c:pt>
              </c:strCache>
            </c:strRef>
          </c:tx>
          <c:spPr>
            <a:solidFill>
              <a:srgbClr val="C1A253"/>
            </a:solidFill>
            <a:ln>
              <a:solidFill>
                <a:srgbClr val="C1A253"/>
              </a:solidFill>
            </a:ln>
          </c:spPr>
          <c:cat>
            <c:strRef>
              <c:f>Sheet1!$A$2:$A$9</c:f>
              <c:strCache>
                <c:ptCount val="8"/>
                <c:pt idx="0">
                  <c:v>Jan</c:v>
                </c:pt>
                <c:pt idx="1">
                  <c:v>Fev</c:v>
                </c:pt>
                <c:pt idx="2">
                  <c:v>Mar</c:v>
                </c:pt>
                <c:pt idx="3">
                  <c:v>Abr</c:v>
                </c:pt>
                <c:pt idx="4">
                  <c:v>Mai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10</c:v>
                </c:pt>
                <c:pt idx="1">
                  <c:v>7</c:v>
                </c:pt>
                <c:pt idx="2">
                  <c:v>7</c:v>
                </c:pt>
                <c:pt idx="3">
                  <c:v>24</c:v>
                </c:pt>
                <c:pt idx="4">
                  <c:v>22</c:v>
                </c:pt>
                <c:pt idx="5">
                  <c:v>6</c:v>
                </c:pt>
                <c:pt idx="6">
                  <c:v>12</c:v>
                </c:pt>
                <c:pt idx="7">
                  <c:v>0</c:v>
                </c:pt>
              </c:numCache>
            </c:numRef>
          </c:val>
        </c:ser>
        <c:dLbls>
          <c:txPr>
            <a:bodyPr/>
            <a:lstStyle/>
            <a:p>
              <a:pPr>
                <a:defRPr sz="550">
                  <a:latin typeface="Segoe U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600">
                <a:solidFill>
                  <a:srgbClr val="6D7973"/>
                </a:solidFill>
                <a:latin typeface="Segoe U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60.0"/>
          <c:min val="0.0"/>
        </c:scaling>
        <c:delete val="0"/>
        <c:axPos val="l"/>
        <c:majorGridlines>
          <c:spPr>
            <a:ln>
              <a:solidFill>
                <a:srgbClr val="E9EEEB"/>
              </a:solidFill>
            </a:ln>
          </c:spPr>
        </c:majorGridlines>
        <c:majorTickMark val="out"/>
        <c:minorTickMark val="none"/>
        <c:tickLblPos val="none"/>
        <c:txPr>
          <a:bodyPr/>
          <a:lstStyle/>
          <a:p>
            <a:pPr>
              <a:defRPr sz="500">
                <a:solidFill>
                  <a:srgbClr val="9AA49F"/>
                </a:solidFill>
                <a:latin typeface="Segoe UI"/>
              </a:defRPr>
            </a:pPr>
          </a:p>
        </c:txPr>
        <c:crossAx val="-2068027336"/>
        <c:crosses val="autoZero"/>
        <c:majorUnit val="40.0"/>
      </c:valAx>
    </c:plotArea>
    <c:legend>
      <c:legendPos val="t"/>
      <c:overlay val="0"/>
      <c:txPr>
        <a:bodyPr/>
        <a:lstStyle/>
        <a:p>
          <a:pPr>
            <a:defRPr sz="600">
              <a:latin typeface="Segoe UI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Promoções</c:v>
                </c:pt>
              </c:strCache>
            </c:strRef>
          </c:tx>
          <c:dPt>
            <c:idx val="0"/>
            <c:spPr>
              <a:solidFill>
                <a:srgbClr val="698342"/>
              </a:solidFill>
              <a:ln>
                <a:solidFill>
                  <a:srgbClr val="698342"/>
                </a:solidFill>
              </a:ln>
            </c:spPr>
          </c:dPt>
          <c:dPt>
            <c:idx val="1"/>
            <c:spPr>
              <a:solidFill>
                <a:srgbClr val="3B7E9D"/>
              </a:solidFill>
              <a:ln>
                <a:solidFill>
                  <a:srgbClr val="3B7E9D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Acesso ao oficialato</c:v>
                </c:pt>
                <c:pt idx="1">
                  <c:v>Entre postos de oficiais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153</c:v>
                </c:pt>
                <c:pt idx="1">
                  <c:v>54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1.xml"/><Relationship Id="rId4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8600" y="137160"/>
            <a:ext cx="11731752" cy="713232"/>
          </a:xfrm>
          <a:prstGeom prst="roundRect">
            <a:avLst/>
          </a:prstGeom>
          <a:solidFill>
            <a:srgbClr val="0D3C2D"/>
          </a:solidFill>
          <a:ln w="8890">
            <a:solidFill>
              <a:srgbClr val="0D3C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28600" y="137160"/>
            <a:ext cx="2450592" cy="71323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0D3C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imbr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" y="265176"/>
            <a:ext cx="2029968" cy="4389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52928" y="246888"/>
            <a:ext cx="1828800" cy="1188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1">
                <a:solidFill>
                  <a:srgbClr val="74D5A6"/>
                </a:solidFill>
                <a:latin typeface="Segoe UI"/>
              </a:rPr>
              <a:t>COMANDO-GERAL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52928" y="384048"/>
            <a:ext cx="530352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Gestão de Pessoal e Expansão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52928" y="640080"/>
            <a:ext cx="4114800" cy="1188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B7D0C6"/>
                </a:solidFill>
                <a:latin typeface="Segoe UI"/>
              </a:rPr>
              <a:t>Indicadores estratégicos consolidados · 2025–2026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320040"/>
            <a:ext cx="137160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B7D0C6"/>
                </a:solidFill>
                <a:latin typeface="Segoe UI"/>
              </a:rPr>
              <a:t>21 de agosto de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51008" y="484632"/>
            <a:ext cx="822960" cy="1828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16:27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356848" y="320040"/>
            <a:ext cx="329184" cy="329184"/>
          </a:xfrm>
          <a:prstGeom prst="roundRect">
            <a:avLst/>
          </a:prstGeom>
          <a:solidFill>
            <a:srgbClr val="234F40"/>
          </a:solidFill>
          <a:ln w="8890">
            <a:solidFill>
              <a:srgbClr val="5376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356848" y="320040"/>
            <a:ext cx="329184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egoe UI"/>
              </a:rPr>
              <a:t>▣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8600" y="950976"/>
            <a:ext cx="11731752" cy="3657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7472" y="1033271"/>
            <a:ext cx="22860" cy="201168"/>
          </a:xfrm>
          <a:prstGeom prst="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" y="1005840"/>
            <a:ext cx="228600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16231D"/>
                </a:solidFill>
                <a:latin typeface="Segoe UI"/>
              </a:rPr>
              <a:t>Panorama executivo integrado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" y="1143000"/>
            <a:ext cx="3017520" cy="82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90" b="0">
                <a:solidFill>
                  <a:srgbClr val="6D7973"/>
                </a:solidFill>
                <a:latin typeface="Segoe UI"/>
              </a:rPr>
              <a:t>Os mostradores consolidam simultaneamente as cinco bases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23960" y="1005840"/>
            <a:ext cx="594360" cy="82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" b="0">
                <a:solidFill>
                  <a:srgbClr val="6D7973"/>
                </a:solidFill>
                <a:latin typeface="Segoe UI"/>
              </a:rPr>
              <a:t>REFERÊNCIA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1115568"/>
            <a:ext cx="73152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16231D"/>
                </a:solidFill>
                <a:latin typeface="Segoe UI"/>
              </a:rPr>
              <a:t>2025–2026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9800" y="1005840"/>
            <a:ext cx="1051560" cy="82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" b="0">
                <a:solidFill>
                  <a:srgbClr val="6D7973"/>
                </a:solidFill>
                <a:latin typeface="Segoe UI"/>
              </a:rPr>
              <a:t>ARQUIVO CONSOLIDADO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29800" y="1115568"/>
            <a:ext cx="68580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16231D"/>
                </a:solidFill>
                <a:latin typeface="Segoe UI"/>
              </a:rPr>
              <a:t>21/08/2026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899648" y="1033271"/>
            <a:ext cx="868680" cy="182880"/>
          </a:xfrm>
          <a:prstGeom prst="roundRect">
            <a:avLst/>
          </a:prstGeom>
          <a:solidFill>
            <a:srgbClr val="EFF8F3"/>
          </a:solidFill>
          <a:ln w="8890">
            <a:solidFill>
              <a:srgbClr val="EFF8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36224" y="1033271"/>
            <a:ext cx="786384" cy="1828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70" b="1">
                <a:solidFill>
                  <a:srgbClr val="13523B"/>
                </a:solidFill>
                <a:latin typeface="Segoe UI"/>
              </a:rPr>
              <a:t>●  5 bases consolidadas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28600" y="1435608"/>
            <a:ext cx="2240280" cy="94183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28600" y="1499616"/>
            <a:ext cx="32004" cy="813816"/>
          </a:xfrm>
          <a:prstGeom prst="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6616" y="1554480"/>
            <a:ext cx="1664208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>
                <a:solidFill>
                  <a:srgbClr val="16231D"/>
                </a:solidFill>
                <a:latin typeface="Segoe UI"/>
              </a:rPr>
              <a:t>Demissões e exonerações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93976" y="1554480"/>
            <a:ext cx="256032" cy="256032"/>
          </a:xfrm>
          <a:prstGeom prst="roundRect">
            <a:avLst/>
          </a:prstGeom>
          <a:solidFill>
            <a:srgbClr val="E6F4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93976" y="1554480"/>
            <a:ext cx="256032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8258"/>
                </a:solidFill>
                <a:latin typeface="Segoe UI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1856232"/>
            <a:ext cx="713232" cy="3017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6231D"/>
                </a:solidFill>
                <a:latin typeface="Segoe UI"/>
              </a:rPr>
              <a:t>340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6695" y="1938528"/>
            <a:ext cx="822960" cy="1371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0" b="0">
                <a:solidFill>
                  <a:srgbClr val="6D7973"/>
                </a:solidFill>
                <a:latin typeface="Segoe UI"/>
              </a:rPr>
              <a:t>desligamentos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56616" y="2221992"/>
            <a:ext cx="128016" cy="0"/>
          </a:xfrm>
          <a:prstGeom prst="line">
            <a:avLst/>
          </a:prstGeom>
          <a:ln w="16510">
            <a:solidFill>
              <a:srgbClr val="1B82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39496" y="2157984"/>
            <a:ext cx="1755648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6D7973"/>
                </a:solidFill>
                <a:latin typeface="Segoe UI"/>
              </a:rPr>
              <a:t>252 demissões · 88 exonerações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578608" y="1435608"/>
            <a:ext cx="2240280" cy="94183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578608" y="1499616"/>
            <a:ext cx="32004" cy="813816"/>
          </a:xfrm>
          <a:prstGeom prst="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06624" y="1554480"/>
            <a:ext cx="1664208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>
                <a:solidFill>
                  <a:srgbClr val="16231D"/>
                </a:solidFill>
                <a:latin typeface="Segoe UI"/>
              </a:rPr>
              <a:t>RAIO — Necessidade de efetivo
das bases satélites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43983" y="1554480"/>
            <a:ext cx="256032" cy="256032"/>
          </a:xfrm>
          <a:prstGeom prst="roundRect">
            <a:avLst/>
          </a:prstGeom>
          <a:solidFill>
            <a:srgbClr val="E7F1F6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43983" y="1554480"/>
            <a:ext cx="256032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B7E9D"/>
                </a:solidFill>
                <a:latin typeface="Segoe UI"/>
              </a:rPr>
              <a:t>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06624" y="1856232"/>
            <a:ext cx="713232" cy="3017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6231D"/>
                </a:solidFill>
                <a:latin typeface="Segoe UI"/>
              </a:rPr>
              <a:t>912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46703" y="1938528"/>
            <a:ext cx="822960" cy="1371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0" b="0">
                <a:solidFill>
                  <a:srgbClr val="6D7973"/>
                </a:solidFill>
                <a:latin typeface="Segoe UI"/>
              </a:rPr>
              <a:t>policiais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2706624" y="2221992"/>
            <a:ext cx="128015" cy="0"/>
          </a:xfrm>
          <a:prstGeom prst="line">
            <a:avLst/>
          </a:prstGeom>
          <a:ln w="16510">
            <a:solidFill>
              <a:srgbClr val="3B7E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2889503" y="2157984"/>
            <a:ext cx="1755648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6D7973"/>
                </a:solidFill>
                <a:latin typeface="Segoe UI"/>
              </a:rPr>
              <a:t>20 bases · 31 municípios satélite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928616" y="1435608"/>
            <a:ext cx="2240280" cy="94183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928616" y="1499616"/>
            <a:ext cx="32004" cy="813816"/>
          </a:xfrm>
          <a:prstGeom prst="rect">
            <a:avLst/>
          </a:prstGeom>
          <a:solidFill>
            <a:srgbClr val="B58E35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56631" y="1554480"/>
            <a:ext cx="1664208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>
                <a:solidFill>
                  <a:srgbClr val="16231D"/>
                </a:solidFill>
                <a:latin typeface="Segoe UI"/>
              </a:rPr>
              <a:t>Déficit de efetivo — POG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793992" y="1554480"/>
            <a:ext cx="256032" cy="256032"/>
          </a:xfrm>
          <a:prstGeom prst="roundRect">
            <a:avLst/>
          </a:prstGeom>
          <a:solidFill>
            <a:srgbClr val="F7EFD9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793992" y="1554480"/>
            <a:ext cx="256032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58E35"/>
                </a:solidFill>
                <a:latin typeface="Segoe UI"/>
              </a:rPr>
              <a:t>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56631" y="1856232"/>
            <a:ext cx="713232" cy="3017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6231D"/>
                </a:solidFill>
                <a:latin typeface="Segoe UI"/>
              </a:rPr>
              <a:t>304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96712" y="1938528"/>
            <a:ext cx="822960" cy="1371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0" b="0">
                <a:solidFill>
                  <a:srgbClr val="6D7973"/>
                </a:solidFill>
                <a:latin typeface="Segoe UI"/>
              </a:rPr>
              <a:t>policiais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5056631" y="2221992"/>
            <a:ext cx="128017" cy="0"/>
          </a:xfrm>
          <a:prstGeom prst="line">
            <a:avLst/>
          </a:prstGeom>
          <a:ln w="16510">
            <a:solidFill>
              <a:srgbClr val="B58E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5239512" y="2157984"/>
            <a:ext cx="1755648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6D7973"/>
                </a:solidFill>
                <a:latin typeface="Segoe UI"/>
              </a:rPr>
              <a:t>Policiamento Ostensivo Geral · 22 OPM negativas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278624" y="1435608"/>
            <a:ext cx="2240280" cy="94183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278624" y="1499616"/>
            <a:ext cx="32004" cy="813816"/>
          </a:xfrm>
          <a:prstGeom prst="rect">
            <a:avLst/>
          </a:prstGeom>
          <a:solidFill>
            <a:srgbClr val="2B8982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406640" y="1554480"/>
            <a:ext cx="1664208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>
                <a:solidFill>
                  <a:srgbClr val="16231D"/>
                </a:solidFill>
                <a:latin typeface="Segoe UI"/>
              </a:rPr>
              <a:t>COPAC — Necessidade PReVio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144000" y="1554480"/>
            <a:ext cx="256032" cy="256032"/>
          </a:xfrm>
          <a:prstGeom prst="roundRect">
            <a:avLst/>
          </a:prstGeom>
          <a:solidFill>
            <a:srgbClr val="E3F3F1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44000" y="1554480"/>
            <a:ext cx="256032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2B8982"/>
                </a:solidFill>
                <a:latin typeface="Segoe UI"/>
              </a:rPr>
              <a:t>●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06640" y="1856232"/>
            <a:ext cx="713232" cy="3017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6231D"/>
                </a:solidFill>
                <a:latin typeface="Segoe UI"/>
              </a:rPr>
              <a:t>229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46720" y="1938528"/>
            <a:ext cx="822960" cy="1371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0" b="0">
                <a:solidFill>
                  <a:srgbClr val="6D7973"/>
                </a:solidFill>
                <a:latin typeface="Segoe UI"/>
              </a:rPr>
              <a:t>policiais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7406640" y="2221992"/>
            <a:ext cx="128016" cy="0"/>
          </a:xfrm>
          <a:prstGeom prst="line">
            <a:avLst/>
          </a:prstGeom>
          <a:ln w="16510">
            <a:solidFill>
              <a:srgbClr val="2B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7589520" y="2157984"/>
            <a:ext cx="1755648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6D7973"/>
                </a:solidFill>
                <a:latin typeface="Segoe UI"/>
              </a:rPr>
              <a:t>Complemento para 12 bases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628632" y="1435608"/>
            <a:ext cx="2240280" cy="94183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628632" y="1499616"/>
            <a:ext cx="32004" cy="813816"/>
          </a:xfrm>
          <a:prstGeom prst="rect">
            <a:avLst/>
          </a:prstGeom>
          <a:solidFill>
            <a:srgbClr val="698342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756648" y="1554480"/>
            <a:ext cx="1664208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>
                <a:solidFill>
                  <a:srgbClr val="16231D"/>
                </a:solidFill>
                <a:latin typeface="Segoe UI"/>
              </a:rPr>
              <a:t>Promoções requeridas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1494008" y="1554480"/>
            <a:ext cx="256032" cy="256032"/>
          </a:xfrm>
          <a:prstGeom prst="roundRect">
            <a:avLst/>
          </a:prstGeom>
          <a:solidFill>
            <a:srgbClr val="EDF3E4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1494008" y="1554480"/>
            <a:ext cx="256032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698342"/>
                </a:solidFill>
                <a:latin typeface="Segoe UI"/>
              </a:rPr>
              <a:t>●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756648" y="1856232"/>
            <a:ext cx="713232" cy="3017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6231D"/>
                </a:solidFill>
                <a:latin typeface="Segoe UI"/>
              </a:rPr>
              <a:t>207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396728" y="1938528"/>
            <a:ext cx="822960" cy="1371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0" b="0">
                <a:solidFill>
                  <a:srgbClr val="6D7973"/>
                </a:solidFill>
                <a:latin typeface="Segoe UI"/>
              </a:rPr>
              <a:t>promoções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9756648" y="2221992"/>
            <a:ext cx="128015" cy="0"/>
          </a:xfrm>
          <a:prstGeom prst="line">
            <a:avLst/>
          </a:prstGeom>
          <a:ln w="16510">
            <a:solidFill>
              <a:srgbClr val="6983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9939528" y="2157984"/>
            <a:ext cx="1755648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6D7973"/>
                </a:solidFill>
                <a:latin typeface="Segoe UI"/>
              </a:rPr>
              <a:t>153 acessos ao oficialato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28600" y="2487168"/>
            <a:ext cx="6153912" cy="4105656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228600" y="2926080"/>
            <a:ext cx="6153912" cy="0"/>
          </a:xfrm>
          <a:prstGeom prst="line">
            <a:avLst/>
          </a:prstGeom>
          <a:ln w="7620">
            <a:solidFill>
              <a:srgbClr val="E9E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68"/>
          <p:cNvSpPr/>
          <p:nvPr/>
        </p:nvSpPr>
        <p:spPr>
          <a:xfrm>
            <a:off x="338328" y="2606040"/>
            <a:ext cx="246888" cy="228600"/>
          </a:xfrm>
          <a:prstGeom prst="roundRect">
            <a:avLst/>
          </a:prstGeom>
          <a:solidFill>
            <a:srgbClr val="EFF8F3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38328" y="2606040"/>
            <a:ext cx="24688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13523B"/>
                </a:solidFill>
                <a:latin typeface="Segoe UI"/>
              </a:rPr>
              <a:t>01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49224" y="2587752"/>
            <a:ext cx="5605272" cy="1737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31D"/>
                </a:solidFill>
                <a:latin typeface="Segoe UI"/>
              </a:rPr>
              <a:t>Demissões e exonerações por mês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49224" y="2761488"/>
            <a:ext cx="5605272" cy="1005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D7973"/>
                </a:solidFill>
                <a:latin typeface="Segoe UI"/>
              </a:rPr>
              <a:t>Janeiro a agosto de 2026</a:t>
            </a:r>
          </a:p>
        </p:txBody>
      </p:sp>
      <p:graphicFrame>
        <p:nvGraphicFramePr>
          <p:cNvPr id="73" name="Chart 72"/>
          <p:cNvGraphicFramePr>
            <a:graphicFrameLocks noGrp="1"/>
          </p:cNvGraphicFramePr>
          <p:nvPr/>
        </p:nvGraphicFramePr>
        <p:xfrm>
          <a:off x="420624" y="3026664"/>
          <a:ext cx="5715000" cy="312724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4" name="TextBox 73"/>
          <p:cNvSpPr txBox="1"/>
          <p:nvPr/>
        </p:nvSpPr>
        <p:spPr>
          <a:xfrm>
            <a:off x="420624" y="6300216"/>
            <a:ext cx="548640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09" b="0">
                <a:solidFill>
                  <a:srgbClr val="6D7973"/>
                </a:solidFill>
                <a:latin typeface="Segoe UI"/>
              </a:rPr>
              <a:t>Maio concentrou 165 desligamentos, equivalente a 48,5% do total apurado até agosto.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492240" y="2487168"/>
            <a:ext cx="2788920" cy="4105656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6492240" y="2926080"/>
            <a:ext cx="2788919" cy="0"/>
          </a:xfrm>
          <a:prstGeom prst="line">
            <a:avLst/>
          </a:prstGeom>
          <a:ln w="7620">
            <a:solidFill>
              <a:srgbClr val="E9E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76"/>
          <p:cNvSpPr/>
          <p:nvPr/>
        </p:nvSpPr>
        <p:spPr>
          <a:xfrm>
            <a:off x="6601968" y="2606040"/>
            <a:ext cx="246888" cy="228600"/>
          </a:xfrm>
          <a:prstGeom prst="roundRect">
            <a:avLst/>
          </a:prstGeom>
          <a:solidFill>
            <a:srgbClr val="EFF8F3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601968" y="2606040"/>
            <a:ext cx="24688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13523B"/>
                </a:solidFill>
                <a:latin typeface="Segoe UI"/>
              </a:rPr>
              <a:t>02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912864" y="2587752"/>
            <a:ext cx="2240279" cy="1737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31D"/>
                </a:solidFill>
                <a:latin typeface="Segoe UI"/>
              </a:rPr>
              <a:t>Necessidades de efetivo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912864" y="2761488"/>
            <a:ext cx="2240279" cy="1005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D7973"/>
                </a:solidFill>
                <a:latin typeface="Segoe UI"/>
              </a:rPr>
              <a:t>RAIO, POG e COPAC/PReVio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647688" y="3054096"/>
            <a:ext cx="2487168" cy="594360"/>
          </a:xfrm>
          <a:prstGeom prst="roundRect">
            <a:avLst/>
          </a:prstGeom>
          <a:solidFill>
            <a:srgbClr val="FAFCFB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6647688" y="3090672"/>
            <a:ext cx="27432" cy="521207"/>
          </a:xfrm>
          <a:prstGeom prst="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775703" y="3145536"/>
            <a:ext cx="205740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60" b="1">
                <a:solidFill>
                  <a:srgbClr val="6D7973"/>
                </a:solidFill>
                <a:latin typeface="Segoe UI"/>
              </a:rPr>
              <a:t>RAIO · BASES SATÉLITES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775703" y="3282696"/>
            <a:ext cx="64008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D3C2D"/>
                </a:solidFill>
                <a:latin typeface="Segoe UI"/>
              </a:rPr>
              <a:t>912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342631" y="3364991"/>
            <a:ext cx="50292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30" b="0">
                <a:solidFill>
                  <a:srgbClr val="6D7973"/>
                </a:solidFill>
                <a:latin typeface="Segoe UI"/>
              </a:rPr>
              <a:t>policiais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775703" y="3520439"/>
            <a:ext cx="2194560" cy="731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30" b="0">
                <a:solidFill>
                  <a:srgbClr val="6D7973"/>
                </a:solidFill>
                <a:latin typeface="Segoe UI"/>
              </a:rPr>
              <a:t>20 bases, 31 municípios satélite e 85,9% operacional.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647688" y="3730752"/>
            <a:ext cx="2487168" cy="594360"/>
          </a:xfrm>
          <a:prstGeom prst="roundRect">
            <a:avLst/>
          </a:prstGeom>
          <a:solidFill>
            <a:srgbClr val="FAFCFB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6647688" y="3767328"/>
            <a:ext cx="27432" cy="521207"/>
          </a:xfrm>
          <a:prstGeom prst="rect">
            <a:avLst/>
          </a:prstGeom>
          <a:solidFill>
            <a:srgbClr val="B58E35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775703" y="3822191"/>
            <a:ext cx="205740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60" b="1">
                <a:solidFill>
                  <a:srgbClr val="6D7973"/>
                </a:solidFill>
                <a:latin typeface="Segoe UI"/>
              </a:rPr>
              <a:t>POLICIAMENTO OSTENSIVO GERAL (POG)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775703" y="3959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D3C2D"/>
                </a:solidFill>
                <a:latin typeface="Segoe UI"/>
              </a:rPr>
              <a:t>304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342631" y="4041648"/>
            <a:ext cx="50292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30" b="0">
                <a:solidFill>
                  <a:srgbClr val="6D7973"/>
                </a:solidFill>
                <a:latin typeface="Segoe UI"/>
              </a:rPr>
              <a:t>policiais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775703" y="4197096"/>
            <a:ext cx="2194560" cy="731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30" b="0">
                <a:solidFill>
                  <a:srgbClr val="6D7973"/>
                </a:solidFill>
                <a:latin typeface="Segoe UI"/>
              </a:rPr>
              <a:t>22 das 88 OPM apresentam saldo negativo.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6647688" y="4407408"/>
            <a:ext cx="2487168" cy="594360"/>
          </a:xfrm>
          <a:prstGeom prst="roundRect">
            <a:avLst/>
          </a:prstGeom>
          <a:solidFill>
            <a:srgbClr val="FAFCFB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6647688" y="4443984"/>
            <a:ext cx="27432" cy="521207"/>
          </a:xfrm>
          <a:prstGeom prst="rect">
            <a:avLst/>
          </a:prstGeom>
          <a:solidFill>
            <a:srgbClr val="2B8982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775703" y="4498848"/>
            <a:ext cx="205740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60" b="1">
                <a:solidFill>
                  <a:srgbClr val="6D7973"/>
                </a:solidFill>
                <a:latin typeface="Segoe UI"/>
              </a:rPr>
              <a:t>COPAC · NECESSIDADE PREVIO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775703" y="4636008"/>
            <a:ext cx="64008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D3C2D"/>
                </a:solidFill>
                <a:latin typeface="Segoe UI"/>
              </a:rPr>
              <a:t>229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342631" y="4718304"/>
            <a:ext cx="50292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30" b="0">
                <a:solidFill>
                  <a:srgbClr val="6D7973"/>
                </a:solidFill>
                <a:latin typeface="Segoe UI"/>
              </a:rPr>
              <a:t>policiais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775703" y="4873752"/>
            <a:ext cx="2194560" cy="731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30" b="0">
                <a:solidFill>
                  <a:srgbClr val="6D7973"/>
                </a:solidFill>
                <a:latin typeface="Segoe UI"/>
              </a:rPr>
              <a:t>Complemento para 12 bases; 63,6% do padrão projetado.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647688" y="6144768"/>
            <a:ext cx="2487168" cy="274320"/>
          </a:xfrm>
          <a:prstGeom prst="roundRect">
            <a:avLst/>
          </a:prstGeom>
          <a:solidFill>
            <a:srgbClr val="FBF8EF"/>
          </a:solidFill>
          <a:ln w="8890">
            <a:solidFill>
              <a:srgbClr val="EEE4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729984" y="6172200"/>
            <a:ext cx="2331720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30" b="0">
                <a:solidFill>
                  <a:srgbClr val="806D3C"/>
                </a:solidFill>
                <a:latin typeface="Segoe UI"/>
              </a:rPr>
              <a:t>●  304 soma os saldos negativos após excluir COGEIC, CGP e marcadores não OPM.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9390888" y="2487168"/>
            <a:ext cx="2569464" cy="4105656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9390888" y="2926080"/>
            <a:ext cx="2569464" cy="0"/>
          </a:xfrm>
          <a:prstGeom prst="line">
            <a:avLst/>
          </a:prstGeom>
          <a:ln w="7620">
            <a:solidFill>
              <a:srgbClr val="E9E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Rounded Rectangle 102"/>
          <p:cNvSpPr/>
          <p:nvPr/>
        </p:nvSpPr>
        <p:spPr>
          <a:xfrm>
            <a:off x="9500615" y="2606040"/>
            <a:ext cx="246888" cy="228600"/>
          </a:xfrm>
          <a:prstGeom prst="roundRect">
            <a:avLst/>
          </a:prstGeom>
          <a:solidFill>
            <a:srgbClr val="EFF8F3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9500615" y="2606040"/>
            <a:ext cx="24688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13523B"/>
                </a:solidFill>
                <a:latin typeface="Segoe UI"/>
              </a:rPr>
              <a:t>03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9811512" y="2587752"/>
            <a:ext cx="2020824" cy="1737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31D"/>
                </a:solidFill>
                <a:latin typeface="Segoe UI"/>
              </a:rPr>
              <a:t>Promoções requeridas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811512" y="2761488"/>
            <a:ext cx="2020824" cy="1005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D7973"/>
                </a:solidFill>
                <a:latin typeface="Segoe UI"/>
              </a:rPr>
              <a:t>Acesso ao oficialato e oficiais</a:t>
            </a:r>
          </a:p>
        </p:txBody>
      </p:sp>
      <p:graphicFrame>
        <p:nvGraphicFramePr>
          <p:cNvPr id="107" name="Chart 106"/>
          <p:cNvGraphicFramePr>
            <a:graphicFrameLocks noGrp="1"/>
          </p:cNvGraphicFramePr>
          <p:nvPr/>
        </p:nvGraphicFramePr>
        <p:xfrm>
          <a:off x="9738360" y="3337560"/>
          <a:ext cx="1874519" cy="19202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08" name="TextBox 107"/>
          <p:cNvSpPr txBox="1"/>
          <p:nvPr/>
        </p:nvSpPr>
        <p:spPr>
          <a:xfrm>
            <a:off x="10259568" y="3922776"/>
            <a:ext cx="841248" cy="3108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6231D"/>
                </a:solidFill>
                <a:latin typeface="Segoe UI"/>
              </a:rPr>
              <a:t>207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442448" y="4224528"/>
            <a:ext cx="475488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6D7973"/>
                </a:solidFill>
                <a:latin typeface="Segoe UI"/>
              </a:rPr>
              <a:t>Total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9592056" y="5413248"/>
            <a:ext cx="64008" cy="64008"/>
          </a:xfrm>
          <a:prstGeom prst="rect">
            <a:avLst/>
          </a:prstGeom>
          <a:solidFill>
            <a:srgbClr val="698342"/>
          </a:solidFill>
          <a:ln w="8890">
            <a:solidFill>
              <a:srgbClr val="6983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9710928" y="5367528"/>
            <a:ext cx="1234440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30" b="0">
                <a:solidFill>
                  <a:srgbClr val="6D7973"/>
                </a:solidFill>
                <a:latin typeface="Segoe UI"/>
              </a:rPr>
              <a:t>Acesso ao oficialato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1064240" y="5367528"/>
            <a:ext cx="640080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30" b="1">
                <a:solidFill>
                  <a:srgbClr val="16231D"/>
                </a:solidFill>
                <a:latin typeface="Segoe UI"/>
              </a:rPr>
              <a:t>153 · 73,9%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9592056" y="5614416"/>
            <a:ext cx="64008" cy="64008"/>
          </a:xfrm>
          <a:prstGeom prst="rect">
            <a:avLst/>
          </a:prstGeom>
          <a:solidFill>
            <a:srgbClr val="3B7E9D"/>
          </a:solidFill>
          <a:ln w="8890">
            <a:solidFill>
              <a:srgbClr val="3B7E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9710928" y="5568696"/>
            <a:ext cx="1234440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30" b="0">
                <a:solidFill>
                  <a:srgbClr val="6D7973"/>
                </a:solidFill>
                <a:latin typeface="Segoe UI"/>
              </a:rPr>
              <a:t>Entre postos de oficiais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064240" y="5568696"/>
            <a:ext cx="640080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30" b="1">
                <a:solidFill>
                  <a:srgbClr val="16231D"/>
                </a:solidFill>
                <a:latin typeface="Segoe UI"/>
              </a:rPr>
              <a:t>54 · 26,1%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228600" y="6684264"/>
            <a:ext cx="3840480" cy="731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20" b="1">
                <a:solidFill>
                  <a:srgbClr val="6D7973"/>
                </a:solidFill>
                <a:latin typeface="Segoe UI"/>
              </a:rPr>
              <a:t>POLÍCIA MILITAR DO CEARÁ · PAINEL ESTRATÉGICO INSTITUCIONAL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9619488" y="6684264"/>
            <a:ext cx="2331720" cy="731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420" b="0">
                <a:solidFill>
                  <a:srgbClr val="13523B"/>
                </a:solidFill>
                <a:latin typeface="Segoe UI"/>
              </a:rPr>
              <a:t>●  Fontes consolidadas em 21/08/2026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Painel de Gestão de Pessoal e Expansão - PMCE</dc:title>
  <dc:subject>Indicadores estratégicos consolidados de 2025-2026</dc:subject>
  <dc:creator>Polícia Militar do Ceará</dc:creator>
  <cp:keywords/>
  <dc:description>Elementos, textos e gráficos editáveis em formato 16:9.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