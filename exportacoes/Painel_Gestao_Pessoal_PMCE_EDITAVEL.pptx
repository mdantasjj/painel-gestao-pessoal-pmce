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0175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simultaneamente as cinco 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5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" y="1453896"/>
            <a:ext cx="32004" cy="914399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1508760"/>
            <a:ext cx="207568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6231D"/>
                </a:solidFill>
                <a:latin typeface="Segoe UI"/>
              </a:rPr>
              <a:t>Saídas de efetivo
(exoneração — aposentadoria)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16352" y="150876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76072" y="2267712"/>
            <a:ext cx="146304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8096" y="2185416"/>
            <a:ext cx="22860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00984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00984" y="1453896"/>
            <a:ext cx="32004" cy="914399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29000" y="1508760"/>
            <a:ext cx="207568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RAIO — Necessidade de efetivo para compor
as 20 bases satélites em 3 níveis de implementação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79" y="150876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79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3087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429000" y="2267712"/>
            <a:ext cx="146303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621024" y="2185416"/>
            <a:ext cx="22860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53912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53912" y="1453896"/>
            <a:ext cx="32004" cy="914399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81928" y="1508760"/>
            <a:ext cx="207568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22208" y="1508760"/>
            <a:ext cx="256032" cy="256032"/>
          </a:xfrm>
          <a:prstGeom prst="roundRect">
            <a:avLst/>
          </a:prstGeom>
          <a:solidFill>
            <a:srgbClr val="F7EFD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22208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58E35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1928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86016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281928" y="2267712"/>
            <a:ext cx="146304" cy="0"/>
          </a:xfrm>
          <a:prstGeom prst="line">
            <a:avLst/>
          </a:prstGeom>
          <a:ln w="16510">
            <a:solidFill>
              <a:srgbClr val="B58E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73952" y="2185416"/>
            <a:ext cx="22860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POG — Policiamento Ordinário · principais unidades militares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06840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06840" y="1453896"/>
            <a:ext cx="32004" cy="914399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4856" y="1508760"/>
            <a:ext cx="207568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16231D"/>
                </a:solidFill>
                <a:latin typeface="Segoe UI"/>
              </a:rPr>
              <a:t>COPAC — Necessidade de efetivo
para compor as 10 bases, sendo 04
prioritárias em 2026 (PReVio)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375136" y="150876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375136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34856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38944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34856" y="2267712"/>
            <a:ext cx="146304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326880" y="2185416"/>
            <a:ext cx="22860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10 bases · 04 prioritárias em 2026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2487168"/>
            <a:ext cx="6153912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926080"/>
            <a:ext cx="615391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" y="2587752"/>
            <a:ext cx="560527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" y="2761488"/>
            <a:ext cx="560527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20624" y="3026664"/>
          <a:ext cx="5715000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420624" y="6300216"/>
            <a:ext cx="5486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92240" y="2487168"/>
            <a:ext cx="278892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6492240" y="2926080"/>
            <a:ext cx="2788919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60196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196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2864" y="2587752"/>
            <a:ext cx="2240279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Necessidades de efetivo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12864" y="2761488"/>
            <a:ext cx="2240279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RAIO, POG e COPAC/PReVio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647688" y="3054096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47688" y="3090672"/>
            <a:ext cx="27432" cy="521207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75703" y="3145536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RAIO · BASES SATÉLITES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75703" y="3282696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912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1" y="3364991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75703" y="3520439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20 bases, 31 municípios satélite e 85,9% operacional.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647688" y="3730752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47688" y="3767328"/>
            <a:ext cx="27432" cy="521207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75703" y="3822191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POG · POLICIAMENTO ORDINÁRIO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75703" y="3959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304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42631" y="4041648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75703" y="4197096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Déficit nas principais unidades militares analisadas.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647688" y="4407408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647688" y="4443984"/>
            <a:ext cx="27432" cy="521207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75703" y="4498848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COPAC · NECESSIDADE PREVIO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75703" y="4636008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229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42631" y="4718304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75703" y="4873752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10 bases; 04 prioritárias em 2026.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647688" y="6144768"/>
            <a:ext cx="2487168" cy="274320"/>
          </a:xfrm>
          <a:prstGeom prst="roundRect">
            <a:avLst/>
          </a:prstGeom>
          <a:solidFill>
            <a:srgbClr val="FBF8EF"/>
          </a:solidFill>
          <a:ln w="889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29984" y="6172200"/>
            <a:ext cx="2331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806D3C"/>
                </a:solidFill>
                <a:latin typeface="Segoe UI"/>
              </a:rPr>
              <a:t>●  POG — Policiamento Ordinário: 304 soma os saldos negativos após as exclusões.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90888" y="2487168"/>
            <a:ext cx="256946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9390888" y="2926080"/>
            <a:ext cx="256946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950061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50061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11512" y="2587752"/>
            <a:ext cx="202082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11512" y="2761488"/>
            <a:ext cx="202082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98" name="Chart 97"/>
          <p:cNvGraphicFramePr>
            <a:graphicFrameLocks noGrp="1"/>
          </p:cNvGraphicFramePr>
          <p:nvPr/>
        </p:nvGraphicFramePr>
        <p:xfrm>
          <a:off x="9738360" y="3337560"/>
          <a:ext cx="1874519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9" name="TextBox 98"/>
          <p:cNvSpPr txBox="1"/>
          <p:nvPr/>
        </p:nvSpPr>
        <p:spPr>
          <a:xfrm>
            <a:off x="10259568" y="392277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51008" y="4224528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592056" y="541324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10928" y="5367528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64240" y="536752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92056" y="5614416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710928" y="5568696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5568696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OPM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OPM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UNIDADES IDENTIFICADAS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OPMs consolidadas pela unidade principal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OPMs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Companhias agrupadas pela unidade principal · Top 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CPRAIO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1318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1318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1318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4290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4290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81328" y="34610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481328" y="346100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4290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7261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7261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81328" y="37581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481328" y="375818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7261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0233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0233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81328" y="40553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481328" y="405536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0233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3205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3205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BPTUR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81328" y="43525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481328" y="435254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3205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46177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COPAC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81328" y="46497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481328" y="464972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49149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224" y="49149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81328" y="49469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81328" y="4946904"/>
            <a:ext cx="236237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84064" y="49149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8912" y="52120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9224" y="52120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481328" y="52440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481328" y="5244084"/>
            <a:ext cx="216551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84064" y="52120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12" y="55092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9224" y="55092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481328" y="55412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481328" y="5541264"/>
            <a:ext cx="196864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84064" y="55092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CPRAIO e 12º BPM lideram, com 17 registros cada (5,2% do recorte).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