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0175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simultaneamente as cinco bases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5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600" y="1499616"/>
            <a:ext cx="32004" cy="81381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Saídas de efetivo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93976" y="155448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5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616" y="2221992"/>
            <a:ext cx="128016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9496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578608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578608" y="1499616"/>
            <a:ext cx="32004" cy="81381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06624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RAIO — Necessidade de efetivo
das bases satélites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3983" y="155448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43983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4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46703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706624" y="2221992"/>
            <a:ext cx="128015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889503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28616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28616" y="1499616"/>
            <a:ext cx="32004" cy="813816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56631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93992" y="1554480"/>
            <a:ext cx="256032" cy="256032"/>
          </a:xfrm>
          <a:prstGeom prst="roundRect">
            <a:avLst/>
          </a:prstGeom>
          <a:solidFill>
            <a:srgbClr val="F7EFD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3992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58E35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56631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304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96712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56631" y="2221992"/>
            <a:ext cx="128017" cy="0"/>
          </a:xfrm>
          <a:prstGeom prst="line">
            <a:avLst/>
          </a:prstGeom>
          <a:ln w="16510">
            <a:solidFill>
              <a:srgbClr val="B58E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239512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POG — Policiamento Ostensivo Geral · 22 OPM negativas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8624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78624" y="1499616"/>
            <a:ext cx="32004" cy="813816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06640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COPAC — Necessidade PReVio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155448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06640" y="2221992"/>
            <a:ext cx="128016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589520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Complemento para 12 bases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28632" y="1435608"/>
            <a:ext cx="2240280" cy="9418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28632" y="1499616"/>
            <a:ext cx="32004" cy="813816"/>
          </a:xfrm>
          <a:prstGeom prst="rect">
            <a:avLst/>
          </a:prstGeom>
          <a:solidFill>
            <a:srgbClr val="69834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56648" y="1554480"/>
            <a:ext cx="166420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494008" y="1554480"/>
            <a:ext cx="256032" cy="256032"/>
          </a:xfrm>
          <a:prstGeom prst="roundRect">
            <a:avLst/>
          </a:prstGeom>
          <a:solidFill>
            <a:srgbClr val="EDF3E4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494008" y="155448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98342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56648" y="1856232"/>
            <a:ext cx="713232" cy="3017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9672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0" b="0">
                <a:solidFill>
                  <a:srgbClr val="6D7973"/>
                </a:solidFill>
                <a:latin typeface="Segoe UI"/>
              </a:rPr>
              <a:t>militares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756648" y="2221992"/>
            <a:ext cx="128015" cy="0"/>
          </a:xfrm>
          <a:prstGeom prst="line">
            <a:avLst/>
          </a:prstGeom>
          <a:ln w="16510">
            <a:solidFill>
              <a:srgbClr val="698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939528" y="2157984"/>
            <a:ext cx="1755648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Referência: promoções requeridas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" y="2487168"/>
            <a:ext cx="6153912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28600" y="2926080"/>
            <a:ext cx="615391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2587752"/>
            <a:ext cx="560527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" y="2761488"/>
            <a:ext cx="560527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20624" y="3026664"/>
          <a:ext cx="5715000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420624" y="6300216"/>
            <a:ext cx="5486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492240" y="2487168"/>
            <a:ext cx="278892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492240" y="2926080"/>
            <a:ext cx="2788919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60196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60196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864" y="2587752"/>
            <a:ext cx="2240279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Necessidades de efetivo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12864" y="2761488"/>
            <a:ext cx="2240279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RAIO, POG e COPAC/PReVio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47688" y="3054096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647688" y="3090672"/>
            <a:ext cx="27432" cy="521207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75703" y="3145536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RAIO · BASES SATÉLITES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75703" y="3282696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912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42631" y="3364991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775703" y="3520439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20 bases, 31 municípios satélite e 85,9% operacional.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647688" y="3730752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647688" y="3767328"/>
            <a:ext cx="27432" cy="521207"/>
          </a:xfrm>
          <a:prstGeom prst="rect">
            <a:avLst/>
          </a:prstGeom>
          <a:solidFill>
            <a:srgbClr val="B58E35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775703" y="3822191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POLICIAMENTO OSTENSIVO GERAL (POG)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75703" y="3959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304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2631" y="4041648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75703" y="4197096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22 das 88 OPM apresentam saldo negativo.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47688" y="4407408"/>
            <a:ext cx="2487168" cy="594360"/>
          </a:xfrm>
          <a:prstGeom prst="roundRect">
            <a:avLst/>
          </a:prstGeom>
          <a:solidFill>
            <a:srgbClr val="FAFCFB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647688" y="4443984"/>
            <a:ext cx="27432" cy="521207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75703" y="4498848"/>
            <a:ext cx="20574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1">
                <a:solidFill>
                  <a:srgbClr val="6D7973"/>
                </a:solidFill>
                <a:latin typeface="Segoe UI"/>
              </a:rPr>
              <a:t>COPAC · NECESSIDADE PREVIO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75703" y="4636008"/>
            <a:ext cx="6400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D3C2D"/>
                </a:solidFill>
                <a:latin typeface="Segoe UI"/>
              </a:rPr>
              <a:t>229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42631" y="4718304"/>
            <a:ext cx="5029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75703" y="4873752"/>
            <a:ext cx="219456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Complemento para 12 bases; 63,6% do padrão projetado.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647688" y="6144768"/>
            <a:ext cx="2487168" cy="274320"/>
          </a:xfrm>
          <a:prstGeom prst="roundRect">
            <a:avLst/>
          </a:prstGeom>
          <a:solidFill>
            <a:srgbClr val="FBF8EF"/>
          </a:solidFill>
          <a:ln w="889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729984" y="6172200"/>
            <a:ext cx="233172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806D3C"/>
                </a:solidFill>
                <a:latin typeface="Segoe UI"/>
              </a:rPr>
              <a:t>●  304 soma os saldos negativos após excluir COGEIC, CGP e marcadores não OPM.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390888" y="2487168"/>
            <a:ext cx="256946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9390888" y="2926080"/>
            <a:ext cx="256946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950061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0061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11512" y="2587752"/>
            <a:ext cx="202082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11512" y="2761488"/>
            <a:ext cx="202082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107" name="Chart 106"/>
          <p:cNvGraphicFramePr>
            <a:graphicFrameLocks noGrp="1"/>
          </p:cNvGraphicFramePr>
          <p:nvPr/>
        </p:nvGraphicFramePr>
        <p:xfrm>
          <a:off x="9738360" y="3337560"/>
          <a:ext cx="1874519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8" name="TextBox 107"/>
          <p:cNvSpPr txBox="1"/>
          <p:nvPr/>
        </p:nvSpPr>
        <p:spPr>
          <a:xfrm>
            <a:off x="10259568" y="3922776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351008" y="4224528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592056" y="541324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710928" y="5367528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064240" y="536752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592056" y="5614416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0928" y="5568696"/>
            <a:ext cx="123444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5568696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OPM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OPM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UNIDADES IDENTIFICADAS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OPMs consolidadas pela unidade principal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OPMs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Companhias agrupadas pela unidade principal · Top 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CPRAIO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481328" y="286664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1318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1318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3163824"/>
            <a:ext cx="334670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1318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4290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4290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81328" y="34610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481328" y="346100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4290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7261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7261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81328" y="37581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481328" y="375818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7261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0233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0233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81328" y="40553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481328" y="4055364"/>
            <a:ext cx="275610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0233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3205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32054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BPTUR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81328" y="435254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481328" y="435254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3205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461772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COPAC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81328" y="464972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481328" y="4649724"/>
            <a:ext cx="255924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13 · 4,0%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491490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9224" y="491490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81328" y="494690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81328" y="4946904"/>
            <a:ext cx="236237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84064" y="491490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8912" y="521208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9224" y="521208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481328" y="524408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481328" y="5244084"/>
            <a:ext cx="2165514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84064" y="521208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12" y="55092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" y="5509260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481328" y="5541264"/>
            <a:ext cx="3346703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481328" y="5541264"/>
            <a:ext cx="196864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84064" y="55092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CPRAIO e 12º BPM lideram, com 17 registros cada (5,2% do recorte).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04B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