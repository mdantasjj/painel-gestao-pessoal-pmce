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Demissões</c:v>
                </c:pt>
              </c:strCache>
            </c:strRef>
          </c:tx>
          <c:spPr>
            <a:solidFill>
              <a:srgbClr val="1B8258"/>
            </a:solidFill>
            <a:ln>
              <a:solidFill>
                <a:srgbClr val="1B8258"/>
              </a:solidFill>
            </a:ln>
          </c:spPr>
          <c:cat>
            <c:strRef>
              <c:f>Sheet1!$A$2:$A$9</c:f>
              <c:strCache>
                <c:ptCount val="8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2</c:v>
                </c:pt>
                <c:pt idx="2">
                  <c:v>0</c:v>
                </c:pt>
                <c:pt idx="3">
                  <c:v>7</c:v>
                </c:pt>
                <c:pt idx="4">
                  <c:v>143</c:v>
                </c:pt>
                <c:pt idx="5">
                  <c:v>76</c:v>
                </c:pt>
                <c:pt idx="6">
                  <c:v>14</c:v>
                </c:pt>
                <c:pt idx="7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Exonerações</c:v>
                </c:pt>
              </c:strCache>
            </c:strRef>
          </c:tx>
          <c:spPr>
            <a:solidFill>
              <a:srgbClr val="C1A253"/>
            </a:solidFill>
            <a:ln>
              <a:solidFill>
                <a:srgbClr val="C1A253"/>
              </a:solidFill>
            </a:ln>
          </c:spPr>
          <c:cat>
            <c:strRef>
              <c:f>Sheet1!$A$2:$A$9</c:f>
              <c:strCache>
                <c:ptCount val="8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</c:v>
                </c:pt>
                <c:pt idx="1">
                  <c:v>7</c:v>
                </c:pt>
                <c:pt idx="2">
                  <c:v>7</c:v>
                </c:pt>
                <c:pt idx="3">
                  <c:v>24</c:v>
                </c:pt>
                <c:pt idx="4">
                  <c:v>22</c:v>
                </c:pt>
                <c:pt idx="5">
                  <c:v>6</c:v>
                </c:pt>
                <c:pt idx="6">
                  <c:v>12</c:v>
                </c:pt>
                <c:pt idx="7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550">
                  <a:latin typeface="Segoe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600">
                <a:solidFill>
                  <a:srgbClr val="6D7973"/>
                </a:solidFill>
                <a:latin typeface="Segoe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0.0"/>
          <c:min val="0.0"/>
        </c:scaling>
        <c:delete val="0"/>
        <c:axPos val="l"/>
        <c:majorGridlines>
          <c:spPr>
            <a:ln>
              <a:solidFill>
                <a:srgbClr val="E9EEEB"/>
              </a:solidFill>
            </a:ln>
          </c:spPr>
        </c:majorGridlines>
        <c:majorTickMark val="out"/>
        <c:minorTickMark val="none"/>
        <c:tickLblPos val="none"/>
        <c:txPr>
          <a:bodyPr/>
          <a:lstStyle/>
          <a:p>
            <a:pPr>
              <a:defRPr sz="500">
                <a:solidFill>
                  <a:srgbClr val="9AA49F"/>
                </a:solidFill>
                <a:latin typeface="Segoe UI"/>
              </a:defRPr>
            </a:pPr>
          </a:p>
        </c:txPr>
        <c:crossAx val="-2068027336"/>
        <c:crosses val="autoZero"/>
        <c:majorUnit val="40.0"/>
      </c:valAx>
    </c:plotArea>
    <c:legend>
      <c:legendPos val="t"/>
      <c:overlay val="0"/>
      <c:txPr>
        <a:bodyPr/>
        <a:lstStyle/>
        <a:p>
          <a:pPr>
            <a:defRPr sz="600">
              <a:latin typeface="Segoe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Promoções</c:v>
                </c:pt>
              </c:strCache>
            </c:strRef>
          </c:tx>
          <c:dPt>
            <c:idx val="0"/>
            <c:spPr>
              <a:solidFill>
                <a:srgbClr val="698342"/>
              </a:solidFill>
              <a:ln>
                <a:solidFill>
                  <a:srgbClr val="698342"/>
                </a:solidFill>
              </a:ln>
            </c:spPr>
          </c:dPt>
          <c:dPt>
            <c:idx val="1"/>
            <c:spPr>
              <a:solidFill>
                <a:srgbClr val="3B7E9D"/>
              </a:solidFill>
              <a:ln>
                <a:solidFill>
                  <a:srgbClr val="3B7E9D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Acesso ao oficialato</c:v>
                </c:pt>
                <c:pt idx="1">
                  <c:v>Entre postos de oficiais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153</c:v>
                </c:pt>
                <c:pt idx="1">
                  <c:v>54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" y="137160"/>
            <a:ext cx="11731752" cy="713232"/>
          </a:xfrm>
          <a:prstGeom prst="roundRect">
            <a:avLst/>
          </a:prstGeom>
          <a:solidFill>
            <a:srgbClr val="0D3C2D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28600" y="137160"/>
            <a:ext cx="2450592" cy="7132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mb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65176"/>
            <a:ext cx="2029968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52928" y="246888"/>
            <a:ext cx="1828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74D5A6"/>
                </a:solidFill>
                <a:latin typeface="Segoe UI"/>
              </a:rPr>
              <a:t>COMANDO-GERAL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384048"/>
            <a:ext cx="530352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Gestão de Pessoal e Expansão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2928" y="640080"/>
            <a:ext cx="4114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7D0C6"/>
                </a:solidFill>
                <a:latin typeface="Segoe UI"/>
              </a:rPr>
              <a:t>Indicadores estratégicos consolidados · 2025–2026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320040"/>
            <a:ext cx="13716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B7D0C6"/>
                </a:solidFill>
                <a:latin typeface="Segoe UI"/>
              </a:rPr>
              <a:t>21 de agosto de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51008" y="484632"/>
            <a:ext cx="82296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16:27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56848" y="320040"/>
            <a:ext cx="329184" cy="329184"/>
          </a:xfrm>
          <a:prstGeom prst="roundRect">
            <a:avLst/>
          </a:prstGeom>
          <a:solidFill>
            <a:srgbClr val="234F40"/>
          </a:solidFill>
          <a:ln w="8890">
            <a:solidFill>
              <a:srgbClr val="5376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56848" y="320040"/>
            <a:ext cx="32918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egoe UI"/>
              </a:rPr>
              <a:t>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" y="950976"/>
            <a:ext cx="11731752" cy="365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033271"/>
            <a:ext cx="22860" cy="201168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" y="1005840"/>
            <a:ext cx="2286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6231D"/>
                </a:solidFill>
                <a:latin typeface="Segoe UI"/>
              </a:rPr>
              <a:t>Panorama executivo integrado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1143000"/>
            <a:ext cx="301752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0" b="0">
                <a:solidFill>
                  <a:srgbClr val="6D7973"/>
                </a:solidFill>
                <a:latin typeface="Segoe UI"/>
              </a:rPr>
              <a:t>Os mostradores consolidam simultaneamente as cinco bases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1005840"/>
            <a:ext cx="5943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REFERÊNCIA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115568"/>
            <a:ext cx="7315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16231D"/>
                </a:solidFill>
                <a:latin typeface="Segoe UI"/>
              </a:rPr>
              <a:t>2025–2026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9800" y="1005840"/>
            <a:ext cx="10515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ARQUIVO CONSOLIDADO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800" y="1115568"/>
            <a:ext cx="6858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16231D"/>
                </a:solidFill>
                <a:latin typeface="Segoe UI"/>
              </a:rPr>
              <a:t>21/08/2026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99648" y="1033271"/>
            <a:ext cx="868680" cy="182880"/>
          </a:xfrm>
          <a:prstGeom prst="roundRect">
            <a:avLst/>
          </a:prstGeom>
          <a:solidFill>
            <a:srgbClr val="EFF8F3"/>
          </a:solidFill>
          <a:ln w="8890">
            <a:solidFill>
              <a:srgbClr val="EF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1033271"/>
            <a:ext cx="786384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70" b="1">
                <a:solidFill>
                  <a:srgbClr val="13523B"/>
                </a:solidFill>
                <a:latin typeface="Segoe UI"/>
              </a:rPr>
              <a:t>●  5 bases consolidadas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8096" y="1435608"/>
            <a:ext cx="2542032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8096" y="1499616"/>
            <a:ext cx="32004" cy="813816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1554480"/>
            <a:ext cx="1874519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Saídas de efetivo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35223" y="1554480"/>
            <a:ext cx="256032" cy="256032"/>
          </a:xfrm>
          <a:prstGeom prst="roundRect">
            <a:avLst/>
          </a:prstGeom>
          <a:solidFill>
            <a:srgbClr val="E6F4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35223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8258"/>
                </a:solidFill>
                <a:latin typeface="Segoe U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547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saídas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" y="2221992"/>
            <a:ext cx="128016" cy="0"/>
          </a:xfrm>
          <a:prstGeom prst="line">
            <a:avLst/>
          </a:prstGeom>
          <a:ln w="16510">
            <a:solidFill>
              <a:srgbClr val="1B82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78992" y="2157984"/>
            <a:ext cx="2093976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252 dem. · 88 exon. · 207 aposent.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74720" y="1435608"/>
            <a:ext cx="2542032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74720" y="1499616"/>
            <a:ext cx="32004" cy="813816"/>
          </a:xfrm>
          <a:prstGeom prst="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02736" y="1554480"/>
            <a:ext cx="1874519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RAIO — Necessidade de efetivo das bases satélites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41848" y="1554480"/>
            <a:ext cx="256032" cy="256032"/>
          </a:xfrm>
          <a:prstGeom prst="roundRect">
            <a:avLst/>
          </a:prstGeom>
          <a:solidFill>
            <a:srgbClr val="E7F1F6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41848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B7E9D"/>
                </a:solidFill>
                <a:latin typeface="Segoe UI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02736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912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42816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602736" y="2221992"/>
            <a:ext cx="128016" cy="0"/>
          </a:xfrm>
          <a:prstGeom prst="line">
            <a:avLst/>
          </a:prstGeom>
          <a:ln w="16510">
            <a:solidFill>
              <a:srgbClr val="3B7E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785615" y="2157984"/>
            <a:ext cx="2093976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20 bases · 31 municípios satélite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1344" y="1435608"/>
            <a:ext cx="2542032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81344" y="1499616"/>
            <a:ext cx="32004" cy="813816"/>
          </a:xfrm>
          <a:prstGeom prst="rect">
            <a:avLst/>
          </a:prstGeom>
          <a:solidFill>
            <a:srgbClr val="B58E35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59" y="1554480"/>
            <a:ext cx="1874519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Déficit de efetivo — POG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48471" y="1554480"/>
            <a:ext cx="256032" cy="256032"/>
          </a:xfrm>
          <a:prstGeom prst="roundRect">
            <a:avLst/>
          </a:prstGeom>
          <a:solidFill>
            <a:srgbClr val="F7EFD9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48471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58E35"/>
                </a:solidFill>
                <a:latin typeface="Segoe U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59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304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0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309359" y="2221992"/>
            <a:ext cx="128017" cy="0"/>
          </a:xfrm>
          <a:prstGeom prst="line">
            <a:avLst/>
          </a:prstGeom>
          <a:ln w="16510">
            <a:solidFill>
              <a:srgbClr val="B58E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492240" y="2157984"/>
            <a:ext cx="2093976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POG — Policiamento Ostensivo Geral · 22 OPM negativas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887968" y="1435608"/>
            <a:ext cx="2542032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887968" y="1499616"/>
            <a:ext cx="32004" cy="813816"/>
          </a:xfrm>
          <a:prstGeom prst="rect">
            <a:avLst/>
          </a:prstGeom>
          <a:solidFill>
            <a:srgbClr val="2B898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15984" y="1554480"/>
            <a:ext cx="1874519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COPAC — Necessidade PReVio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055096" y="1554480"/>
            <a:ext cx="256032" cy="256032"/>
          </a:xfrm>
          <a:prstGeom prst="roundRect">
            <a:avLst/>
          </a:prstGeom>
          <a:solidFill>
            <a:srgbClr val="E3F3F1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055096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8982"/>
                </a:solidFill>
                <a:latin typeface="Segoe UI"/>
              </a:rPr>
              <a:t>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15984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229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56064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015984" y="2221992"/>
            <a:ext cx="128016" cy="0"/>
          </a:xfrm>
          <a:prstGeom prst="line">
            <a:avLst/>
          </a:prstGeom>
          <a:ln w="16510">
            <a:solidFill>
              <a:srgbClr val="2B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198864" y="2157984"/>
            <a:ext cx="2093976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Complemento para 12 bases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28600" y="2487168"/>
            <a:ext cx="6153912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28600" y="2926080"/>
            <a:ext cx="6153912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338328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38328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9224" y="2587752"/>
            <a:ext cx="5605272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Demissões e exonerações por mês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9224" y="2761488"/>
            <a:ext cx="5605272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340 das 547 saídas · janeiro a agosto de 2026</a:t>
            </a:r>
          </a:p>
        </p:txBody>
      </p:sp>
      <p:graphicFrame>
        <p:nvGraphicFramePr>
          <p:cNvPr id="64" name="Chart 63"/>
          <p:cNvGraphicFramePr>
            <a:graphicFrameLocks noGrp="1"/>
          </p:cNvGraphicFramePr>
          <p:nvPr/>
        </p:nvGraphicFramePr>
        <p:xfrm>
          <a:off x="420624" y="3026664"/>
          <a:ext cx="5715000" cy="3127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420624" y="6300216"/>
            <a:ext cx="5486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9" b="0">
                <a:solidFill>
                  <a:srgbClr val="6D7973"/>
                </a:solidFill>
                <a:latin typeface="Segoe UI"/>
              </a:rPr>
              <a:t>Esta série detalha 340 das 547 saídas; maio concentrou 165 demissões/exonerações.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492240" y="2487168"/>
            <a:ext cx="2788920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6492240" y="2926080"/>
            <a:ext cx="2788919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6601968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01968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12864" y="2587752"/>
            <a:ext cx="2240279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Necessidades de efetivo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12864" y="2761488"/>
            <a:ext cx="2240279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RAIO, POG e COPAC/PReVio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647688" y="3054096"/>
            <a:ext cx="2487168" cy="594360"/>
          </a:xfrm>
          <a:prstGeom prst="roundRect">
            <a:avLst/>
          </a:prstGeom>
          <a:solidFill>
            <a:srgbClr val="FAFCFB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647688" y="3090672"/>
            <a:ext cx="27432" cy="521207"/>
          </a:xfrm>
          <a:prstGeom prst="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775703" y="3145536"/>
            <a:ext cx="2057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6D7973"/>
                </a:solidFill>
                <a:latin typeface="Segoe UI"/>
              </a:rPr>
              <a:t>RAIO · BASES SATÉLITES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75703" y="3282696"/>
            <a:ext cx="640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D3C2D"/>
                </a:solidFill>
                <a:latin typeface="Segoe UI"/>
              </a:rPr>
              <a:t>912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42631" y="3364991"/>
            <a:ext cx="5029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75703" y="3520439"/>
            <a:ext cx="219456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6D7973"/>
                </a:solidFill>
                <a:latin typeface="Segoe UI"/>
              </a:rPr>
              <a:t>20 bases, 31 municípios satélite e 85,9% operacional.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647688" y="3730752"/>
            <a:ext cx="2487168" cy="594360"/>
          </a:xfrm>
          <a:prstGeom prst="roundRect">
            <a:avLst/>
          </a:prstGeom>
          <a:solidFill>
            <a:srgbClr val="FAFCFB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647688" y="3767328"/>
            <a:ext cx="27432" cy="521207"/>
          </a:xfrm>
          <a:prstGeom prst="rect">
            <a:avLst/>
          </a:prstGeom>
          <a:solidFill>
            <a:srgbClr val="B58E35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75703" y="3822191"/>
            <a:ext cx="2057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6D7973"/>
                </a:solidFill>
                <a:latin typeface="Segoe UI"/>
              </a:rPr>
              <a:t>POLICIAMENTO OSTENSIVO GERAL (POG)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775703" y="3959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D3C2D"/>
                </a:solidFill>
                <a:latin typeface="Segoe UI"/>
              </a:rPr>
              <a:t>304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342631" y="4041648"/>
            <a:ext cx="5029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775703" y="4197096"/>
            <a:ext cx="219456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6D7973"/>
                </a:solidFill>
                <a:latin typeface="Segoe UI"/>
              </a:rPr>
              <a:t>22 das 88 OPM apresentam saldo negativo.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647688" y="4407408"/>
            <a:ext cx="2487168" cy="594360"/>
          </a:xfrm>
          <a:prstGeom prst="roundRect">
            <a:avLst/>
          </a:prstGeom>
          <a:solidFill>
            <a:srgbClr val="FAFCFB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647688" y="4443984"/>
            <a:ext cx="27432" cy="521207"/>
          </a:xfrm>
          <a:prstGeom prst="rect">
            <a:avLst/>
          </a:prstGeom>
          <a:solidFill>
            <a:srgbClr val="2B898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775703" y="4498848"/>
            <a:ext cx="2057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6D7973"/>
                </a:solidFill>
                <a:latin typeface="Segoe UI"/>
              </a:rPr>
              <a:t>COPAC · NECESSIDADE PREVIO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775703" y="4636008"/>
            <a:ext cx="640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D3C2D"/>
                </a:solidFill>
                <a:latin typeface="Segoe UI"/>
              </a:rPr>
              <a:t>229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342631" y="4718304"/>
            <a:ext cx="5029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775703" y="4873752"/>
            <a:ext cx="219456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6D7973"/>
                </a:solidFill>
                <a:latin typeface="Segoe UI"/>
              </a:rPr>
              <a:t>Complemento para 12 bases; 63,6% do padrão projetado.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647688" y="6144768"/>
            <a:ext cx="2487168" cy="274320"/>
          </a:xfrm>
          <a:prstGeom prst="roundRect">
            <a:avLst/>
          </a:prstGeom>
          <a:solidFill>
            <a:srgbClr val="FBF8EF"/>
          </a:solidFill>
          <a:ln w="8890">
            <a:solidFill>
              <a:srgbClr val="EEE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729984" y="6172200"/>
            <a:ext cx="233172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806D3C"/>
                </a:solidFill>
                <a:latin typeface="Segoe UI"/>
              </a:rPr>
              <a:t>●  304 soma os saldos negativos após excluir COGEIC, CGP e marcadores não OPM.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390888" y="2487168"/>
            <a:ext cx="2569464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9390888" y="2926080"/>
            <a:ext cx="2569464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/>
          <p:cNvSpPr/>
          <p:nvPr/>
        </p:nvSpPr>
        <p:spPr>
          <a:xfrm>
            <a:off x="9500615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500615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811512" y="2587752"/>
            <a:ext cx="2020824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Aposentadorias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811512" y="2761488"/>
            <a:ext cx="2020824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Impacto nas promoções requeridas</a:t>
            </a:r>
          </a:p>
        </p:txBody>
      </p:sp>
      <p:graphicFrame>
        <p:nvGraphicFramePr>
          <p:cNvPr id="98" name="Chart 97"/>
          <p:cNvGraphicFramePr>
            <a:graphicFrameLocks noGrp="1"/>
          </p:cNvGraphicFramePr>
          <p:nvPr/>
        </p:nvGraphicFramePr>
        <p:xfrm>
          <a:off x="9738360" y="3337560"/>
          <a:ext cx="1874519" cy="19202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99" name="TextBox 98"/>
          <p:cNvSpPr txBox="1"/>
          <p:nvPr/>
        </p:nvSpPr>
        <p:spPr>
          <a:xfrm>
            <a:off x="10259568" y="3922776"/>
            <a:ext cx="841248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6231D"/>
                </a:solidFill>
                <a:latin typeface="Segoe UI"/>
              </a:rPr>
              <a:t>207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351008" y="4224528"/>
            <a:ext cx="65836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Aposent.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592056" y="5413248"/>
            <a:ext cx="64008" cy="64008"/>
          </a:xfrm>
          <a:prstGeom prst="rect">
            <a:avLst/>
          </a:prstGeom>
          <a:solidFill>
            <a:srgbClr val="698342"/>
          </a:solidFill>
          <a:ln w="8890">
            <a:solidFill>
              <a:srgbClr val="698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710928" y="5367528"/>
            <a:ext cx="123444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Acesso ao oficialato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064240" y="5367528"/>
            <a:ext cx="64008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30" b="1">
                <a:solidFill>
                  <a:srgbClr val="16231D"/>
                </a:solidFill>
                <a:latin typeface="Segoe UI"/>
              </a:rPr>
              <a:t>153 · 73,9%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592056" y="5614416"/>
            <a:ext cx="64008" cy="64008"/>
          </a:xfrm>
          <a:prstGeom prst="rect">
            <a:avLst/>
          </a:prstGeom>
          <a:solidFill>
            <a:srgbClr val="3B7E9D"/>
          </a:solidFill>
          <a:ln w="8890">
            <a:solidFill>
              <a:srgbClr val="3B7E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710928" y="5568696"/>
            <a:ext cx="123444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Entre postos de oficiais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5568696"/>
            <a:ext cx="64008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30" b="1">
                <a:solidFill>
                  <a:srgbClr val="16231D"/>
                </a:solidFill>
                <a:latin typeface="Segoe UI"/>
              </a:rPr>
              <a:t>54 · 26,1%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28600" y="6684264"/>
            <a:ext cx="384048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" b="1">
                <a:solidFill>
                  <a:srgbClr val="6D7973"/>
                </a:solidFill>
                <a:latin typeface="Segoe UI"/>
              </a:rPr>
              <a:t>POLÍCIA MILITAR DO CEARÁ · PAINEL ESTRATÉGICO INSTITUCIONAL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619488" y="6684264"/>
            <a:ext cx="233172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20" b="0">
                <a:solidFill>
                  <a:srgbClr val="13523B"/>
                </a:solidFill>
                <a:latin typeface="Segoe UI"/>
              </a:rPr>
              <a:t>●  Fontes consolidadas em 21/08/2026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" y="137160"/>
            <a:ext cx="11731752" cy="713232"/>
          </a:xfrm>
          <a:prstGeom prst="roundRect">
            <a:avLst/>
          </a:prstGeom>
          <a:solidFill>
            <a:srgbClr val="0D3C2D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28600" y="137160"/>
            <a:ext cx="2450592" cy="7132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mb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65176"/>
            <a:ext cx="2029968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52928" y="246888"/>
            <a:ext cx="1828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74D5A6"/>
                </a:solidFill>
                <a:latin typeface="Segoe UI"/>
              </a:rPr>
              <a:t>GESTÃO DE PESSOAL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384048"/>
            <a:ext cx="56692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De onde estão saindo os militares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2928" y="640080"/>
            <a:ext cx="50292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7D0C6"/>
                </a:solidFill>
                <a:latin typeface="Segoe UI"/>
              </a:rPr>
              <a:t>Origem por OPM e município · dados agregados, sem nomes ou matrículas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301752"/>
            <a:ext cx="1188720" cy="91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59" b="0">
                <a:solidFill>
                  <a:srgbClr val="B7D0C6"/>
                </a:solidFill>
                <a:latin typeface="Segoe UI"/>
              </a:rPr>
              <a:t>PERÍODO DA FONTE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8048" y="475488"/>
            <a:ext cx="1444752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Segoe UI"/>
              </a:rPr>
              <a:t>01/01 a 10/08/2026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56848" y="320040"/>
            <a:ext cx="329184" cy="329184"/>
          </a:xfrm>
          <a:prstGeom prst="roundRect">
            <a:avLst/>
          </a:prstGeom>
          <a:solidFill>
            <a:srgbClr val="234F40"/>
          </a:solidFill>
          <a:ln w="8890">
            <a:solidFill>
              <a:srgbClr val="5376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56848" y="320040"/>
            <a:ext cx="32918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" y="950976"/>
            <a:ext cx="11731752" cy="3474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024128"/>
            <a:ext cx="22860" cy="201168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" y="996696"/>
            <a:ext cx="210312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6231D"/>
                </a:solidFill>
                <a:latin typeface="Segoe UI"/>
              </a:rPr>
              <a:t>Leitura territorial das saídas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1133856"/>
            <a:ext cx="58521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0" b="0">
                <a:solidFill>
                  <a:srgbClr val="6D7973"/>
                </a:solidFill>
                <a:latin typeface="Segoe UI"/>
              </a:rPr>
              <a:t>O ranking cobre demissões e exonerações individualizadas; aposentadorias não possuem OPM na base atual.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79024" y="1024128"/>
            <a:ext cx="1261872" cy="182880"/>
          </a:xfrm>
          <a:prstGeom prst="roundRect">
            <a:avLst/>
          </a:prstGeom>
          <a:solidFill>
            <a:srgbClr val="EFF8F3"/>
          </a:solidFill>
          <a:ln w="8890">
            <a:solidFill>
              <a:srgbClr val="EF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0" y="1024128"/>
            <a:ext cx="118872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3523B"/>
                </a:solidFill>
                <a:latin typeface="Segoe UI"/>
              </a:rPr>
              <a:t>326 registros únicos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8600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1481328"/>
            <a:ext cx="32004" cy="493776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4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REGISTROS COM ORIGEM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326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Demissões e exonerações individualizadas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06240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06240" y="1481328"/>
            <a:ext cx="32004" cy="493776"/>
          </a:xfrm>
          <a:prstGeom prst="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2544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UNIDADES IDENTIFICADAS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79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65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52544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OPMs consolidadas pela unidade principal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79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83879" y="1481328"/>
            <a:ext cx="32004" cy="493776"/>
          </a:xfrm>
          <a:prstGeom prst="rect">
            <a:avLst/>
          </a:prstGeom>
          <a:solidFill>
            <a:srgbClr val="C1A25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0183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MUNICÍPIOS IDENTIFICADOS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18519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0183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Fortaleza concentra 153 registros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28600" y="2185416"/>
            <a:ext cx="5742432" cy="43159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228600" y="2624328"/>
            <a:ext cx="5742432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338328" y="2304288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8328" y="2304288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04A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" y="2286000"/>
            <a:ext cx="5193792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OPMs com mais saídas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" y="2459736"/>
            <a:ext cx="5193792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Companhias agrupadas pela unidade principal · Top 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" y="283464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" y="283464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CPRAIO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81328" y="286664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481328" y="2866644"/>
            <a:ext cx="3346703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84064" y="283464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17 · 5,2%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912" y="313182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" y="313182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12º BPM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81328" y="316382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481328" y="3163824"/>
            <a:ext cx="3346703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84064" y="313182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17 · 5,2%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12" y="342900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9224" y="342900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17º BPM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81328" y="346100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481328" y="3461004"/>
            <a:ext cx="275610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84064" y="342900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8912" y="372618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9224" y="372618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18º BPM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481328" y="375818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481328" y="3758184"/>
            <a:ext cx="275610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84064" y="372618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8912" y="402336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9224" y="402336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6º BPM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481328" y="405536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481328" y="4055364"/>
            <a:ext cx="275610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84064" y="402336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" y="432054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" y="432054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BPTUR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481328" y="435254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1481328" y="4352544"/>
            <a:ext cx="2559244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84064" y="432054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13 · 4,0%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8912" y="461772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9224" y="461772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COPAC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481328" y="464972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481328" y="4649724"/>
            <a:ext cx="2559244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84064" y="461772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13 · 4,0%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8912" y="491490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9224" y="491490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19º BPM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481328" y="494690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1481328" y="4946904"/>
            <a:ext cx="236237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84064" y="491490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12 · 3,7%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8912" y="521208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9224" y="521208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20º BPM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481328" y="524408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1481328" y="5244084"/>
            <a:ext cx="2165514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84064" y="521208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11 · 3,4%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12" y="550926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9224" y="550926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24º BPM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481328" y="554126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1481328" y="5541264"/>
            <a:ext cx="196864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084064" y="550926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10 · 3,1%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38912" y="5989320"/>
            <a:ext cx="52578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CPRAIO e 12º BPM lideram, com 17 registros cada (5,2% do recorte).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08192" y="2185416"/>
            <a:ext cx="5852160" cy="43159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6108192" y="2624328"/>
            <a:ext cx="5852160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91"/>
          <p:cNvSpPr/>
          <p:nvPr/>
        </p:nvSpPr>
        <p:spPr>
          <a:xfrm>
            <a:off x="6217920" y="2304288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217920" y="2304288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04B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528816" y="2286000"/>
            <a:ext cx="5303520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Municípios com mais saídas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28816" y="2459736"/>
            <a:ext cx="5303520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Município informado no registro · Top 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318504" y="283464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28816" y="2834640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Fortaleza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690104" y="2866644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7690104" y="2866644"/>
            <a:ext cx="3118104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1064240" y="283464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153 · 46,9%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18504" y="3191256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528816" y="3191256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Caucaia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690104" y="3223260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7690104" y="3223260"/>
            <a:ext cx="550253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64240" y="3191256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27 · 8,3%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18504" y="3547872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528816" y="3547872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Maracanaú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690104" y="3579876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7690104" y="3579876"/>
            <a:ext cx="244557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1064240" y="3547872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12 · 3,7%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318504" y="3904487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28816" y="3904487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Maranguape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690104" y="3936491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7690104" y="3936491"/>
            <a:ext cx="16303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064240" y="3904487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8 · 2,5%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318504" y="4261104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528816" y="4261104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Juazeiro do Norte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690104" y="4293108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7690104" y="4293108"/>
            <a:ext cx="16303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1064240" y="4261104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8 · 2,5%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318504" y="461772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06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528816" y="4617720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Quixadá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7690104" y="4649724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7690104" y="4649724"/>
            <a:ext cx="14265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1064240" y="461772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7 · 2,1%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318504" y="4974336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528816" y="4974336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Eusébio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7690104" y="5006340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7690104" y="5006340"/>
            <a:ext cx="12227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064240" y="4974336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6 · 1,8%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318504" y="5330952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528816" y="5330952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Sobral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690104" y="5362956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7690104" y="5362956"/>
            <a:ext cx="12227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1064240" y="5330952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6 · 1,8%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18504" y="5989320"/>
            <a:ext cx="52578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Fortaleza reúne 153 registros, equivalentes a 46,9% do recorte individualizado.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38912" y="6199632"/>
            <a:ext cx="11283696" cy="201168"/>
          </a:xfrm>
          <a:prstGeom prst="roundRect">
            <a:avLst/>
          </a:prstGeom>
          <a:solidFill>
            <a:srgbClr val="FBF8EF"/>
          </a:solidFill>
          <a:ln w="6350">
            <a:solidFill>
              <a:srgbClr val="EEE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48640" y="6227064"/>
            <a:ext cx="1104595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80" b="0">
                <a:solidFill>
                  <a:srgbClr val="806D3C"/>
                </a:solidFill>
                <a:latin typeface="Segoe UI"/>
              </a:rPr>
              <a:t>Cobertura metodológica: 326 registros únicos. O total executivo de 340 segue a base mensal consolidada; as 207 aposentadorias não possuem origem territorial informada.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28600" y="6684264"/>
            <a:ext cx="384048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" b="1">
                <a:solidFill>
                  <a:srgbClr val="6D7973"/>
                </a:solidFill>
                <a:latin typeface="Segoe UI"/>
              </a:rPr>
              <a:t>POLÍCIA MILITAR DO CEARÁ · PAINEL ESTRATÉGICO INSTITUCIONAL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641080" y="6684264"/>
            <a:ext cx="3319272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20" b="0">
                <a:solidFill>
                  <a:srgbClr val="13523B"/>
                </a:solidFill>
                <a:latin typeface="Segoe UI"/>
              </a:rPr>
              <a:t>●  Dados agregados · sem exposição de informações pessoais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Painel de Gestão de Pessoal e Expansão - PMCE</dc:title>
  <dc:subject>Indicadores estratégicos consolidados de 2025-2026</dc:subject>
  <dc:creator>Polícia Militar do Ceará</dc:creator>
  <cp:keywords/>
  <dc:description>Dois slides com elementos, textos e gráficos editáveis em formato 16:9.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