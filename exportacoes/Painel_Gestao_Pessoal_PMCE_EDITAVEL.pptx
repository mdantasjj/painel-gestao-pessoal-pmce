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Demissões</c:v>
                </c:pt>
              </c:strCache>
            </c:strRef>
          </c:tx>
          <c:spPr>
            <a:solidFill>
              <a:srgbClr val="1B8258"/>
            </a:solidFill>
            <a:ln>
              <a:solidFill>
                <a:srgbClr val="1B8258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2</c:v>
                </c:pt>
                <c:pt idx="2">
                  <c:v>0</c:v>
                </c:pt>
                <c:pt idx="3">
                  <c:v>7</c:v>
                </c:pt>
                <c:pt idx="4">
                  <c:v>143</c:v>
                </c:pt>
                <c:pt idx="5">
                  <c:v>76</c:v>
                </c:pt>
                <c:pt idx="6">
                  <c:v>14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Exonerações</c:v>
                </c:pt>
              </c:strCache>
            </c:strRef>
          </c:tx>
          <c:spPr>
            <a:solidFill>
              <a:srgbClr val="C1A253"/>
            </a:solidFill>
            <a:ln>
              <a:solidFill>
                <a:srgbClr val="C1A253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</c:v>
                </c:pt>
                <c:pt idx="1">
                  <c:v>7</c:v>
                </c:pt>
                <c:pt idx="2">
                  <c:v>7</c:v>
                </c:pt>
                <c:pt idx="3">
                  <c:v>24</c:v>
                </c:pt>
                <c:pt idx="4">
                  <c:v>22</c:v>
                </c:pt>
                <c:pt idx="5">
                  <c:v>6</c:v>
                </c:pt>
                <c:pt idx="6">
                  <c:v>12</c:v>
                </c:pt>
                <c:pt idx="7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550">
                  <a:latin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600">
                <a:solidFill>
                  <a:srgbClr val="6D7973"/>
                </a:solidFill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E9EEEB"/>
              </a:solidFill>
            </a:ln>
          </c:spPr>
        </c:majorGridlines>
        <c:majorTickMark val="out"/>
        <c:minorTickMark val="none"/>
        <c:tickLblPos val="none"/>
        <c:txPr>
          <a:bodyPr/>
          <a:lstStyle/>
          <a:p>
            <a:pPr>
              <a:defRPr sz="500">
                <a:solidFill>
                  <a:srgbClr val="9AA49F"/>
                </a:solidFill>
                <a:latin typeface="Segoe UI"/>
              </a:defRPr>
            </a:pPr>
          </a:p>
        </c:txPr>
        <c:crossAx val="-2068027336"/>
        <c:crosses val="autoZero"/>
        <c:majorUnit val="40.0"/>
      </c:valAx>
    </c:plotArea>
    <c:legend>
      <c:legendPos val="t"/>
      <c:overlay val="0"/>
      <c:txPr>
        <a:bodyPr/>
        <a:lstStyle/>
        <a:p>
          <a:pPr>
            <a:defRPr sz="600">
              <a:latin typeface="Segoe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Promoções</c:v>
                </c:pt>
              </c:strCache>
            </c:strRef>
          </c:tx>
          <c:dPt>
            <c:idx val="0"/>
            <c:spPr>
              <a:solidFill>
                <a:srgbClr val="698342"/>
              </a:solidFill>
              <a:ln>
                <a:solidFill>
                  <a:srgbClr val="698342"/>
                </a:solidFill>
              </a:ln>
            </c:spPr>
          </c:dPt>
          <c:dPt>
            <c:idx val="1"/>
            <c:spPr>
              <a:solidFill>
                <a:srgbClr val="3B7E9D"/>
              </a:solidFill>
              <a:ln>
                <a:solidFill>
                  <a:srgbClr val="3B7E9D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Acesso ao oficialato</c:v>
                </c:pt>
                <c:pt idx="1">
                  <c:v>Entre postos de oficiais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153</c:v>
                </c:pt>
                <c:pt idx="1">
                  <c:v>54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COMANDO-GERAL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3035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Gestão de Pessoal e Expansão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4114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Indicadores estratégicos consolidados · 2025–2026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20040"/>
            <a:ext cx="13716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B7D0C6"/>
                </a:solidFill>
                <a:latin typeface="Segoe UI"/>
              </a:rPr>
              <a:t>21 de agosto de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51008" y="484632"/>
            <a:ext cx="8229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16:27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65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33271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1005840"/>
            <a:ext cx="2286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Panorama executivo integrado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43000"/>
            <a:ext cx="301752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Os mostradores consolidam simultaneamente as cinco bases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1005840"/>
            <a:ext cx="5943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REFERÊNCIA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115568"/>
            <a:ext cx="7315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2025–2026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9800" y="1005840"/>
            <a:ext cx="10515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ARQUIVO CONSOLIDADO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800" y="1115568"/>
            <a:ext cx="6858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21/08/2026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99648" y="1033271"/>
            <a:ext cx="868680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1033271"/>
            <a:ext cx="786384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70" b="1">
                <a:solidFill>
                  <a:srgbClr val="13523B"/>
                </a:solidFill>
                <a:latin typeface="Segoe UI"/>
              </a:rPr>
              <a:t>●  5 bases consolidadas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6" y="1389888"/>
            <a:ext cx="2743200" cy="1042415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" y="1453896"/>
            <a:ext cx="32004" cy="914399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1508760"/>
            <a:ext cx="2075688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16231D"/>
                </a:solidFill>
                <a:latin typeface="Segoe UI"/>
              </a:rPr>
              <a:t>Saídas de efetivo
(exoneração — aposentadoria)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16352" y="1508760"/>
            <a:ext cx="256032" cy="256032"/>
          </a:xfrm>
          <a:prstGeom prst="roundRect">
            <a:avLst/>
          </a:prstGeom>
          <a:solidFill>
            <a:srgbClr val="E6F4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150876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8258"/>
                </a:solidFill>
                <a:latin typeface="Segoe U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" y="1847088"/>
            <a:ext cx="76809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31D"/>
                </a:solidFill>
                <a:latin typeface="Segoe UI"/>
              </a:rPr>
              <a:t>547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6D7973"/>
                </a:solidFill>
                <a:latin typeface="Segoe UI"/>
              </a:rPr>
              <a:t>saídas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76072" y="2267712"/>
            <a:ext cx="146304" cy="0"/>
          </a:xfrm>
          <a:prstGeom prst="line">
            <a:avLst/>
          </a:prstGeom>
          <a:ln w="16510">
            <a:solidFill>
              <a:srgbClr val="1B82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68096" y="2185416"/>
            <a:ext cx="22860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252 dem. · 88 exon. · 207 aposent.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00984" y="1389888"/>
            <a:ext cx="2743200" cy="1042415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00984" y="1453896"/>
            <a:ext cx="32004" cy="914399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29000" y="1508760"/>
            <a:ext cx="2075688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16231D"/>
                </a:solidFill>
                <a:latin typeface="Segoe UI"/>
              </a:rPr>
              <a:t>RAIO — Necessidade de efetivo para compor
as 20 bases satélites em 3 níveis de implementação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79" y="1508760"/>
            <a:ext cx="256032" cy="256032"/>
          </a:xfrm>
          <a:prstGeom prst="roundRect">
            <a:avLst/>
          </a:prstGeom>
          <a:solidFill>
            <a:srgbClr val="E7F1F6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79" y="150876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B7E9D"/>
                </a:solidFill>
                <a:latin typeface="Segoe U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1847088"/>
            <a:ext cx="76809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31D"/>
                </a:solidFill>
                <a:latin typeface="Segoe UI"/>
              </a:rPr>
              <a:t>912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3087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429000" y="2267712"/>
            <a:ext cx="146303" cy="0"/>
          </a:xfrm>
          <a:prstGeom prst="line">
            <a:avLst/>
          </a:prstGeom>
          <a:ln w="16510">
            <a:solidFill>
              <a:srgbClr val="3B7E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621024" y="2185416"/>
            <a:ext cx="22860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20 bases · 31 municípios satélite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53912" y="1389888"/>
            <a:ext cx="2743200" cy="1042415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53912" y="1453896"/>
            <a:ext cx="32004" cy="914399"/>
          </a:xfrm>
          <a:prstGeom prst="rect">
            <a:avLst/>
          </a:prstGeom>
          <a:solidFill>
            <a:srgbClr val="216F4C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81928" y="1508760"/>
            <a:ext cx="207568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Déficit de efetivo — POG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22208" y="1508760"/>
            <a:ext cx="256032" cy="256032"/>
          </a:xfrm>
          <a:prstGeom prst="roundRect">
            <a:avLst/>
          </a:prstGeom>
          <a:solidFill>
            <a:srgbClr val="E4F2E9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22208" y="150876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16F4C"/>
                </a:solidFill>
                <a:latin typeface="Segoe U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81928" y="1847088"/>
            <a:ext cx="76809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31D"/>
                </a:solidFill>
                <a:latin typeface="Segoe UI"/>
              </a:rPr>
              <a:t>111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86016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281928" y="2267712"/>
            <a:ext cx="146304" cy="0"/>
          </a:xfrm>
          <a:prstGeom prst="line">
            <a:avLst/>
          </a:prstGeom>
          <a:ln w="16510">
            <a:solidFill>
              <a:srgbClr val="216F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473952" y="2185416"/>
            <a:ext cx="22860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POG — Policiamento Ordinário · 34 BPMs territoriais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06840" y="1389888"/>
            <a:ext cx="2743200" cy="1042415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006840" y="1453896"/>
            <a:ext cx="32004" cy="914399"/>
          </a:xfrm>
          <a:prstGeom prst="rect">
            <a:avLst/>
          </a:prstGeom>
          <a:solidFill>
            <a:srgbClr val="2B898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4856" y="1508760"/>
            <a:ext cx="2075688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16231D"/>
                </a:solidFill>
                <a:latin typeface="Segoe UI"/>
              </a:rPr>
              <a:t>COPAC — Necessidade de efetivo
para compor as 10 bases, sendo 04
prioritárias em 2026 (PReVio)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375136" y="1508760"/>
            <a:ext cx="256032" cy="256032"/>
          </a:xfrm>
          <a:prstGeom prst="roundRect">
            <a:avLst/>
          </a:prstGeom>
          <a:solidFill>
            <a:srgbClr val="E3F3F1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375136" y="150876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8982"/>
                </a:solidFill>
                <a:latin typeface="Segoe UI"/>
              </a:rPr>
              <a:t>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34856" y="1847088"/>
            <a:ext cx="76809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31D"/>
                </a:solidFill>
                <a:latin typeface="Segoe UI"/>
              </a:rPr>
              <a:t>229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38944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134856" y="2267712"/>
            <a:ext cx="146304" cy="0"/>
          </a:xfrm>
          <a:prstGeom prst="line">
            <a:avLst/>
          </a:prstGeom>
          <a:ln w="16510">
            <a:solidFill>
              <a:srgbClr val="2B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326880" y="2185416"/>
            <a:ext cx="22860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10 bases · 04 prioritárias em 2026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28600" y="2487168"/>
            <a:ext cx="6153912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28600" y="2926080"/>
            <a:ext cx="6153912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338328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8328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9224" y="2587752"/>
            <a:ext cx="5605272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Demissões e exonerações por mês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224" y="2761488"/>
            <a:ext cx="5605272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340 das 547 saídas · janeiro a agosto de 2026</a:t>
            </a:r>
          </a:p>
        </p:txBody>
      </p:sp>
      <p:graphicFrame>
        <p:nvGraphicFramePr>
          <p:cNvPr id="64" name="Chart 63"/>
          <p:cNvGraphicFramePr>
            <a:graphicFrameLocks noGrp="1"/>
          </p:cNvGraphicFramePr>
          <p:nvPr/>
        </p:nvGraphicFramePr>
        <p:xfrm>
          <a:off x="420624" y="3026664"/>
          <a:ext cx="5715000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420624" y="6300216"/>
            <a:ext cx="5486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9" b="0">
                <a:solidFill>
                  <a:srgbClr val="6D7973"/>
                </a:solidFill>
                <a:latin typeface="Segoe UI"/>
              </a:rPr>
              <a:t>Esta série detalha 340 das 547 saídas; maio concentrou 165 demissões/exonerações.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92240" y="2487168"/>
            <a:ext cx="2788920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6492240" y="2926080"/>
            <a:ext cx="2788919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601968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01968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12864" y="2587752"/>
            <a:ext cx="2240279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Necessidades de efetivo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12864" y="2761488"/>
            <a:ext cx="2240279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RAIO, POG e COPAC/PReVio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647688" y="3054096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647688" y="3090672"/>
            <a:ext cx="27432" cy="521207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775703" y="3145536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RAIO · BASES SATÉLITES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75703" y="3282696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912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42631" y="3364991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75703" y="3520439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20 bases, 31 municípios satélite e 85,9% operacional.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647688" y="3730752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647688" y="3767328"/>
            <a:ext cx="27432" cy="521207"/>
          </a:xfrm>
          <a:prstGeom prst="rect">
            <a:avLst/>
          </a:prstGeom>
          <a:solidFill>
            <a:srgbClr val="216F4C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75703" y="3822191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POG · POLICIAMENTO ORDINÁRIO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75703" y="3959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111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42631" y="4041648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75703" y="4197096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Déficit calculado nos 34 BPMs territoriais.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647688" y="4407408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647688" y="4443984"/>
            <a:ext cx="27432" cy="521207"/>
          </a:xfrm>
          <a:prstGeom prst="rect">
            <a:avLst/>
          </a:prstGeom>
          <a:solidFill>
            <a:srgbClr val="2B898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775703" y="4498848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COPAC · NECESSIDADE PREVIO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775703" y="4636008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229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342631" y="4718304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775703" y="4873752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10 bases; 04 prioritárias em 2026.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647688" y="6144768"/>
            <a:ext cx="2487168" cy="274320"/>
          </a:xfrm>
          <a:prstGeom prst="roundRect">
            <a:avLst/>
          </a:prstGeom>
          <a:solidFill>
            <a:srgbClr val="FBF8EF"/>
          </a:solidFill>
          <a:ln w="8890">
            <a:solidFill>
              <a:srgbClr val="EEE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729984" y="6172200"/>
            <a:ext cx="233172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216F4C"/>
                </a:solidFill>
                <a:latin typeface="Segoe UI"/>
              </a:rPr>
              <a:t>●  POG — Policiamento Ordinário: 111 soma as perdas dos 12 BPMs com saldo negativo.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390888" y="2487168"/>
            <a:ext cx="2569464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9390888" y="2926080"/>
            <a:ext cx="2569464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/>
          <p:cNvSpPr/>
          <p:nvPr/>
        </p:nvSpPr>
        <p:spPr>
          <a:xfrm>
            <a:off x="9500615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500615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811512" y="2587752"/>
            <a:ext cx="2020824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Aposentadorias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811512" y="2761488"/>
            <a:ext cx="2020824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Impacto nas promoções requeridas</a:t>
            </a:r>
          </a:p>
        </p:txBody>
      </p:sp>
      <p:graphicFrame>
        <p:nvGraphicFramePr>
          <p:cNvPr id="98" name="Chart 97"/>
          <p:cNvGraphicFramePr>
            <a:graphicFrameLocks noGrp="1"/>
          </p:cNvGraphicFramePr>
          <p:nvPr/>
        </p:nvGraphicFramePr>
        <p:xfrm>
          <a:off x="9738360" y="3337560"/>
          <a:ext cx="1874519" cy="19202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9" name="TextBox 98"/>
          <p:cNvSpPr txBox="1"/>
          <p:nvPr/>
        </p:nvSpPr>
        <p:spPr>
          <a:xfrm>
            <a:off x="10259568" y="3922776"/>
            <a:ext cx="841248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231D"/>
                </a:solidFill>
                <a:latin typeface="Segoe UI"/>
              </a:rPr>
              <a:t>207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351008" y="4224528"/>
            <a:ext cx="65836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Aposent.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592056" y="5413248"/>
            <a:ext cx="64008" cy="64008"/>
          </a:xfrm>
          <a:prstGeom prst="rect">
            <a:avLst/>
          </a:prstGeom>
          <a:solidFill>
            <a:srgbClr val="698342"/>
          </a:solidFill>
          <a:ln w="8890">
            <a:solidFill>
              <a:srgbClr val="698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710928" y="5367528"/>
            <a:ext cx="123444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Acesso ao oficialato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064240" y="5367528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153 · 73,9%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592056" y="5614416"/>
            <a:ext cx="64008" cy="64008"/>
          </a:xfrm>
          <a:prstGeom prst="rect">
            <a:avLst/>
          </a:prstGeom>
          <a:solidFill>
            <a:srgbClr val="3B7E9D"/>
          </a:solidFill>
          <a:ln w="8890">
            <a:solidFill>
              <a:srgbClr val="3B7E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710928" y="5568696"/>
            <a:ext cx="123444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Entre postos de oficiais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5568696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54 · 26,1%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619488" y="6684264"/>
            <a:ext cx="233172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Fontes consolidadas em 21/08/2026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GESTÃO DE PESSOAL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6692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De onde estão saindo os militares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50292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Origem por OPM e município · dados agregados, sem nomes ou matrículas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01752"/>
            <a:ext cx="1188720" cy="91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59" b="0">
                <a:solidFill>
                  <a:srgbClr val="B7D0C6"/>
                </a:solidFill>
                <a:latin typeface="Segoe UI"/>
              </a:rPr>
              <a:t>PERÍODO DA FONTE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8048" y="475488"/>
            <a:ext cx="1444752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Segoe UI"/>
              </a:rPr>
              <a:t>01/01 a 10/08/2026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24128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996696"/>
            <a:ext cx="210312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Leitura territorial das saídas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33856"/>
            <a:ext cx="58521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 ranking cobre demissões e exonerações individualizadas; aposentadorias não possuem OPM na base atual.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79024" y="1024128"/>
            <a:ext cx="1261872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0" y="1024128"/>
            <a:ext cx="118872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3523B"/>
                </a:solidFill>
                <a:latin typeface="Segoe UI"/>
              </a:rPr>
              <a:t>326 registros únicos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1481328"/>
            <a:ext cx="32004" cy="493776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4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REGISTROS COM ORIGEM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326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Demissões e exonerações individualizadas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0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06240" y="1481328"/>
            <a:ext cx="32004" cy="493776"/>
          </a:xfrm>
          <a:prstGeom prst="rect">
            <a:avLst/>
          </a:prstGeom>
          <a:solidFill>
            <a:srgbClr val="13523B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2544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BATALHÕES DESTACADOS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79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52544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BPMs no ranking territorial de origens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79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83879" y="1481328"/>
            <a:ext cx="32004" cy="493776"/>
          </a:xfrm>
          <a:prstGeom prst="rect">
            <a:avLst/>
          </a:prstGeom>
          <a:solidFill>
            <a:srgbClr val="C1A25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0183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MUNICÍPIOS IDENTIFICADOS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18519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0183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Fortaleza concentra 153 registros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8600" y="2185416"/>
            <a:ext cx="5742432" cy="43159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228600" y="2624328"/>
            <a:ext cx="5742432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38328" y="2304288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" y="2304288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04A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" y="2286000"/>
            <a:ext cx="5193792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Batalhões com mais saídas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" y="2459736"/>
            <a:ext cx="5193792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BPMs presentes entre as principais origens · Top 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" y="28346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" y="2834640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12º BPM · Caucaia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49424" y="2866644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249424" y="2866644"/>
            <a:ext cx="2578607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84064" y="28346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17 · 5,2%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" y="3209544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" y="3209544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17º BPM · Fortaleza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49424" y="3241548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2249424" y="3241548"/>
            <a:ext cx="212355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84064" y="3209544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" y="3584448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9224" y="3584448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18º BPM · Fortaleza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249424" y="3616452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249424" y="3616452"/>
            <a:ext cx="212355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84064" y="3584448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2" y="395935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" y="3959352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6º BPM · Fortaleza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249424" y="3991356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249424" y="3991356"/>
            <a:ext cx="212355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84064" y="395935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" y="433425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" y="4334256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19º BPM · Fortaleza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249424" y="4366260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249424" y="4366260"/>
            <a:ext cx="1820193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84064" y="433425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12 · 3,7%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" y="470916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" y="4709160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20º BPM · Fortaleza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249424" y="4741164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9424" y="4741164"/>
            <a:ext cx="1668511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84064" y="470916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11 · 3,4%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8912" y="5084064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9224" y="5084064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24º BPM · Maranguape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49424" y="5116068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2249424" y="5116068"/>
            <a:ext cx="1516828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84064" y="5084064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10 · 3,1%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8912" y="5989320"/>
            <a:ext cx="52578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O 12º BPM lidera o recorte por batalhão, com 17 registros (5,2% do total individualizado).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108192" y="2185416"/>
            <a:ext cx="5852160" cy="43159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6108192" y="2624328"/>
            <a:ext cx="5852160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6217920" y="2304288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17920" y="2304288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04B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28816" y="2286000"/>
            <a:ext cx="5303520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Municípios com mais saídas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28816" y="2459736"/>
            <a:ext cx="5303520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Município informado no registro · Top 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18504" y="28346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28816" y="2834640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Fortaleza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690104" y="2866644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690104" y="2866644"/>
            <a:ext cx="3118104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064240" y="28346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153 · 46,9%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18504" y="319125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28816" y="3191256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Caucaia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690104" y="3223260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7690104" y="3223260"/>
            <a:ext cx="550253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064240" y="319125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27 · 8,3%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18504" y="354787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28816" y="3547872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Maracanaú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690104" y="3579876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7690104" y="3579876"/>
            <a:ext cx="244557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1064240" y="354787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12 · 3,7%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18504" y="3904487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28816" y="3904487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Maranguape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690104" y="3936491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7690104" y="3936491"/>
            <a:ext cx="16303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1064240" y="3904487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8 · 2,5%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18504" y="4261104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28816" y="4261104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Juazeiro do Norte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690104" y="4293108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690104" y="4293108"/>
            <a:ext cx="16303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64240" y="4261104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8 · 2,5%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18504" y="461772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28816" y="4617720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Quixadá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690104" y="4649724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690104" y="4649724"/>
            <a:ext cx="14265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1064240" y="461772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7 · 2,1%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318504" y="497433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28816" y="4974336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Eusébio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690104" y="5006340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690104" y="5006340"/>
            <a:ext cx="12227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064240" y="497433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6 · 1,8%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18504" y="533095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528816" y="5330952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Sobral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690104" y="5362956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7690104" y="5362956"/>
            <a:ext cx="12227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1064240" y="533095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6 · 1,8%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318504" y="5989320"/>
            <a:ext cx="52578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Fortaleza reúne 153 registros, equivalentes a 46,9% do recorte individualizado.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38912" y="6199632"/>
            <a:ext cx="11283696" cy="201168"/>
          </a:xfrm>
          <a:prstGeom prst="roundRect">
            <a:avLst/>
          </a:prstGeom>
          <a:solidFill>
            <a:srgbClr val="FBF8EF"/>
          </a:solidFill>
          <a:ln w="6350">
            <a:solidFill>
              <a:srgbClr val="EEE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48640" y="6227064"/>
            <a:ext cx="1104595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" b="0">
                <a:solidFill>
                  <a:srgbClr val="806D3C"/>
                </a:solidFill>
                <a:latin typeface="Segoe UI"/>
              </a:rPr>
              <a:t>Cobertura metodológica: 326 registros únicos. O total executivo de 340 segue a base mensal consolidada; as 207 aposentadorias não possuem origem territorial informada.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641080" y="6684264"/>
            <a:ext cx="3319272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Dados agregados · sem exposição de informações pessoais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Painel de Gestão de Pessoal e Expansão - PMCE</dc:title>
  <dc:subject>Indicadores estratégicos consolidados de 2025-2026</dc:subject>
  <dc:creator>Polícia Militar do Ceará</dc:creator>
  <cp:keywords/>
  <dc:description>Dois slides com elementos, textos e gráficos editáveis em formato 16:9.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