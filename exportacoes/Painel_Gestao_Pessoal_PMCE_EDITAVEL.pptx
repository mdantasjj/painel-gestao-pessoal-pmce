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Demissões</c:v>
                </c:pt>
              </c:strCache>
            </c:strRef>
          </c:tx>
          <c:spPr>
            <a:solidFill>
              <a:srgbClr val="1B8258"/>
            </a:solidFill>
            <a:ln>
              <a:solidFill>
                <a:srgbClr val="1B8258"/>
              </a:solidFill>
            </a:ln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2</c:v>
                </c:pt>
                <c:pt idx="2">
                  <c:v>0</c:v>
                </c:pt>
                <c:pt idx="3">
                  <c:v>7</c:v>
                </c:pt>
                <c:pt idx="4">
                  <c:v>143</c:v>
                </c:pt>
                <c:pt idx="5">
                  <c:v>76</c:v>
                </c:pt>
                <c:pt idx="6">
                  <c:v>14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Exonerações</c:v>
                </c:pt>
              </c:strCache>
            </c:strRef>
          </c:tx>
          <c:spPr>
            <a:solidFill>
              <a:srgbClr val="C1A253"/>
            </a:solidFill>
            <a:ln>
              <a:solidFill>
                <a:srgbClr val="C1A253"/>
              </a:solidFill>
            </a:ln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7</c:v>
                </c:pt>
                <c:pt idx="2">
                  <c:v>7</c:v>
                </c:pt>
                <c:pt idx="3">
                  <c:v>24</c:v>
                </c:pt>
                <c:pt idx="4">
                  <c:v>22</c:v>
                </c:pt>
                <c:pt idx="5">
                  <c:v>6</c:v>
                </c:pt>
                <c:pt idx="6">
                  <c:v>12</c:v>
                </c:pt>
                <c:pt idx="7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550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6D7973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E9EEEB"/>
              </a:solidFill>
            </a:ln>
          </c:spPr>
        </c:majorGridlines>
        <c:majorTickMark val="out"/>
        <c:minorTickMark val="none"/>
        <c:tickLblPos val="none"/>
        <c:txPr>
          <a:bodyPr/>
          <a:lstStyle/>
          <a:p>
            <a:pPr>
              <a:defRPr sz="500">
                <a:solidFill>
                  <a:srgbClr val="9AA49F"/>
                </a:solidFill>
                <a:latin typeface="Segoe UI"/>
              </a:defRPr>
            </a:pPr>
          </a:p>
        </c:txPr>
        <c:crossAx val="-2068027336"/>
        <c:crosses val="autoZero"/>
        <c:majorUnit val="40.0"/>
      </c:valAx>
    </c:plotArea>
    <c:legend>
      <c:legendPos val="t"/>
      <c:overlay val="0"/>
      <c:txPr>
        <a:bodyPr/>
        <a:lstStyle/>
        <a:p>
          <a:pPr>
            <a:defRPr sz="6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Promoções</c:v>
                </c:pt>
              </c:strCache>
            </c:strRef>
          </c:tx>
          <c:dPt>
            <c:idx val="0"/>
            <c:spPr>
              <a:solidFill>
                <a:srgbClr val="698342"/>
              </a:solidFill>
              <a:ln>
                <a:solidFill>
                  <a:srgbClr val="698342"/>
                </a:solidFill>
              </a:ln>
            </c:spPr>
          </c:dPt>
          <c:dPt>
            <c:idx val="1"/>
            <c:spPr>
              <a:solidFill>
                <a:srgbClr val="3B7E9D"/>
              </a:solidFill>
              <a:ln>
                <a:solidFill>
                  <a:srgbClr val="3B7E9D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Acesso ao oficialato</c:v>
                </c:pt>
                <c:pt idx="1">
                  <c:v>Entre postos de oficiais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37160"/>
            <a:ext cx="11731752" cy="713232"/>
          </a:xfrm>
          <a:prstGeom prst="roundRect">
            <a:avLst/>
          </a:prstGeom>
          <a:solidFill>
            <a:srgbClr val="0D3C2D"/>
          </a:solidFill>
          <a:ln w="8890">
            <a:solidFill>
              <a:srgbClr val="0D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37160"/>
            <a:ext cx="2450592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D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b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65176"/>
            <a:ext cx="2029968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52928" y="246888"/>
            <a:ext cx="18288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74D5A6"/>
                </a:solidFill>
                <a:latin typeface="Segoe UI"/>
              </a:rPr>
              <a:t>COMANDO-GERAL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384048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Gestão de Pessoal e Expansão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640080"/>
            <a:ext cx="41148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7D0C6"/>
                </a:solidFill>
                <a:latin typeface="Segoe UI"/>
              </a:rPr>
              <a:t>Indicadores estratégicos consolidados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320040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B7D0C6"/>
                </a:solidFill>
                <a:latin typeface="Segoe UI"/>
              </a:rPr>
              <a:t>09 de setembro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51008" y="484632"/>
            <a:ext cx="8229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16:27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56848" y="320040"/>
            <a:ext cx="329184" cy="329184"/>
          </a:xfrm>
          <a:prstGeom prst="roundRect">
            <a:avLst/>
          </a:prstGeom>
          <a:solidFill>
            <a:srgbClr val="234F40"/>
          </a:solidFill>
          <a:ln w="8890">
            <a:solidFill>
              <a:srgbClr val="537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56848" y="32004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950976"/>
            <a:ext cx="11731752" cy="365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033271"/>
            <a:ext cx="22860" cy="201168"/>
          </a:xfrm>
          <a:prstGeom prst="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1005840"/>
            <a:ext cx="22860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6231D"/>
                </a:solidFill>
                <a:latin typeface="Segoe UI"/>
              </a:rPr>
              <a:t>Panorama executivo integrado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1143000"/>
            <a:ext cx="3474720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6D7973"/>
                </a:solidFill>
                <a:latin typeface="Segoe UI"/>
              </a:rPr>
              <a:t>Os mostradores consolidam os indicadores estratégicos das bases analisadas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005840"/>
            <a:ext cx="594360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" b="0">
                <a:solidFill>
                  <a:srgbClr val="6D7973"/>
                </a:solidFill>
                <a:latin typeface="Segoe UI"/>
              </a:rPr>
              <a:t>REFERÊNCIA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115568"/>
            <a:ext cx="73152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6231D"/>
                </a:solidFill>
                <a:latin typeface="Segoe UI"/>
              </a:rPr>
              <a:t>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005840"/>
            <a:ext cx="1051560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" b="0">
                <a:solidFill>
                  <a:srgbClr val="6D7973"/>
                </a:solidFill>
                <a:latin typeface="Segoe UI"/>
              </a:rPr>
              <a:t>ARQUIVO CONSOLIDADO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115568"/>
            <a:ext cx="6858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6231D"/>
                </a:solidFill>
                <a:latin typeface="Segoe UI"/>
              </a:rPr>
              <a:t>09/09/2026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9648" y="1033271"/>
            <a:ext cx="868680" cy="182880"/>
          </a:xfrm>
          <a:prstGeom prst="roundRect">
            <a:avLst/>
          </a:prstGeom>
          <a:solidFill>
            <a:srgbClr val="EFF8F3"/>
          </a:solidFill>
          <a:ln w="8890">
            <a:solidFill>
              <a:srgbClr val="EF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6224" y="1033271"/>
            <a:ext cx="78638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70" b="1">
                <a:solidFill>
                  <a:srgbClr val="13523B"/>
                </a:solidFill>
                <a:latin typeface="Segoe UI"/>
              </a:rPr>
              <a:t>●  6 bases consolidadas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1389888"/>
            <a:ext cx="342900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453896"/>
            <a:ext cx="32004" cy="621792"/>
          </a:xfrm>
          <a:prstGeom prst="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1463040"/>
            <a:ext cx="27614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6231D"/>
                </a:solidFill>
                <a:latin typeface="Segoe UI"/>
              </a:rPr>
              <a:t>Saídas de efetivo (exoneração — aposentadoria)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4135" y="1463040"/>
            <a:ext cx="256032" cy="256032"/>
          </a:xfrm>
          <a:prstGeom prst="roundRect">
            <a:avLst/>
          </a:prstGeom>
          <a:solidFill>
            <a:srgbClr val="E6F4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5" y="1463040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8258"/>
                </a:solidFill>
                <a:latin typeface="Segoe U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1719072"/>
            <a:ext cx="768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547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1792224"/>
            <a:ext cx="8229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D7973"/>
                </a:solidFill>
                <a:latin typeface="Segoe UI"/>
              </a:rPr>
              <a:t>saídas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8056" y="2039112"/>
            <a:ext cx="146303" cy="0"/>
          </a:xfrm>
          <a:prstGeom prst="line">
            <a:avLst/>
          </a:prstGeom>
          <a:ln w="16510">
            <a:solidFill>
              <a:srgbClr val="1B8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1975103"/>
            <a:ext cx="2971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6D7973"/>
                </a:solidFill>
                <a:latin typeface="Segoe UI"/>
              </a:rPr>
              <a:t>252 dem. · 88 exon. · 207 aposent.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1389888"/>
            <a:ext cx="342900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9976" y="1453896"/>
            <a:ext cx="32004" cy="621792"/>
          </a:xfrm>
          <a:prstGeom prst="rect">
            <a:avLst/>
          </a:prstGeom>
          <a:solidFill>
            <a:srgbClr val="216F4C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1463040"/>
            <a:ext cx="27614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6231D"/>
                </a:solidFill>
                <a:latin typeface="Segoe UI"/>
              </a:rPr>
              <a:t>Déficit de efetivo — POG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4071" y="1463040"/>
            <a:ext cx="256032" cy="256032"/>
          </a:xfrm>
          <a:prstGeom prst="roundRect">
            <a:avLst/>
          </a:prstGeom>
          <a:solidFill>
            <a:srgbClr val="E4F2E9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1" y="1463040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6F4C"/>
                </a:solidFill>
                <a:latin typeface="Segoe U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1719072"/>
            <a:ext cx="768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1792224"/>
            <a:ext cx="8229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D7973"/>
                </a:solidFill>
                <a:latin typeface="Segoe UI"/>
              </a:rPr>
              <a:t>policiais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07992" y="2039112"/>
            <a:ext cx="146304" cy="0"/>
          </a:xfrm>
          <a:prstGeom prst="line">
            <a:avLst/>
          </a:prstGeom>
          <a:ln w="16510">
            <a:solidFill>
              <a:srgbClr val="216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00016" y="1975103"/>
            <a:ext cx="2971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6D7973"/>
                </a:solidFill>
                <a:latin typeface="Segoe UI"/>
              </a:rPr>
              <a:t>Policiamento Ordinário · 34 BPMs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39912" y="1389888"/>
            <a:ext cx="342900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39912" y="1453896"/>
            <a:ext cx="32004" cy="621792"/>
          </a:xfrm>
          <a:prstGeom prst="rect">
            <a:avLst/>
          </a:prstGeom>
          <a:solidFill>
            <a:srgbClr val="69834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7928" y="1463040"/>
            <a:ext cx="27614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6231D"/>
                </a:solidFill>
                <a:latin typeface="Segoe UI"/>
              </a:rPr>
              <a:t>Reestruturação dos batalhões do interior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94008" y="1463040"/>
            <a:ext cx="256032" cy="256032"/>
          </a:xfrm>
          <a:prstGeom prst="roundRect">
            <a:avLst/>
          </a:prstGeom>
          <a:solidFill>
            <a:srgbClr val="EDF3E4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94008" y="1463040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8342"/>
                </a:solidFill>
                <a:latin typeface="Segoe U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1719072"/>
            <a:ext cx="768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6" y="1792224"/>
            <a:ext cx="8229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D7973"/>
                </a:solidFill>
                <a:latin typeface="Segoe UI"/>
              </a:rPr>
              <a:t>batalhões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67928" y="2039112"/>
            <a:ext cx="146304" cy="0"/>
          </a:xfrm>
          <a:prstGeom prst="line">
            <a:avLst/>
          </a:prstGeom>
          <a:ln w="16510">
            <a:solidFill>
              <a:srgbClr val="698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759952" y="1975103"/>
            <a:ext cx="2971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6D7973"/>
                </a:solidFill>
                <a:latin typeface="Segoe UI"/>
              </a:rPr>
              <a:t>8 abaixo da média · 1 acima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50008" y="2231136"/>
            <a:ext cx="342900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295144"/>
            <a:ext cx="32004" cy="621792"/>
          </a:xfrm>
          <a:prstGeom prst="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78024" y="2304288"/>
            <a:ext cx="276148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16231D"/>
                </a:solidFill>
                <a:latin typeface="Segoe UI"/>
              </a:rPr>
              <a:t>RAIO — Necessidade para as 20 bases satélites em 3 níveis de implementação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04104" y="2304288"/>
            <a:ext cx="256032" cy="256032"/>
          </a:xfrm>
          <a:prstGeom prst="roundRect">
            <a:avLst/>
          </a:prstGeom>
          <a:solidFill>
            <a:srgbClr val="E7F1F6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4104" y="2304288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B7E9D"/>
                </a:solidFill>
                <a:latin typeface="Segoe UI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78024" y="2560320"/>
            <a:ext cx="768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912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82112" y="2633472"/>
            <a:ext cx="8229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D7973"/>
                </a:solidFill>
                <a:latin typeface="Segoe UI"/>
              </a:rPr>
              <a:t>policiais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478024" y="2880360"/>
            <a:ext cx="146303" cy="0"/>
          </a:xfrm>
          <a:prstGeom prst="line">
            <a:avLst/>
          </a:prstGeom>
          <a:ln w="16510">
            <a:solidFill>
              <a:srgbClr val="3B7E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670048" y="2816351"/>
            <a:ext cx="2971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6D7973"/>
                </a:solidFill>
                <a:latin typeface="Segoe UI"/>
              </a:rPr>
              <a:t>20 bases · 31 municípios satélite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9944" y="2231136"/>
            <a:ext cx="342900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9944" y="2295144"/>
            <a:ext cx="32004" cy="621792"/>
          </a:xfrm>
          <a:prstGeom prst="rect">
            <a:avLst/>
          </a:prstGeom>
          <a:solidFill>
            <a:srgbClr val="2F855A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59" y="2304288"/>
            <a:ext cx="276148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6231D"/>
                </a:solidFill>
                <a:latin typeface="Segoe UI"/>
              </a:rPr>
              <a:t>COPAC — Efetivo mínimo para 12 bases cidadãs do PReVio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64040" y="2304288"/>
            <a:ext cx="256032" cy="256032"/>
          </a:xfrm>
          <a:prstGeom prst="roundRect">
            <a:avLst/>
          </a:prstGeom>
          <a:solidFill>
            <a:srgbClr val="E5F3EA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2304288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855A"/>
                </a:solidFill>
                <a:latin typeface="Segoe U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59" y="2560320"/>
            <a:ext cx="768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360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42048" y="2633472"/>
            <a:ext cx="8229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D7973"/>
                </a:solidFill>
                <a:latin typeface="Segoe UI"/>
              </a:rPr>
              <a:t>policiais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537959" y="2880360"/>
            <a:ext cx="146305" cy="0"/>
          </a:xfrm>
          <a:prstGeom prst="line">
            <a:avLst/>
          </a:prstGeom>
          <a:ln w="1651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29983" y="2816351"/>
            <a:ext cx="2971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6D7973"/>
                </a:solidFill>
                <a:latin typeface="Segoe UI"/>
              </a:rPr>
              <a:t>12 bases · 30 policiais por base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" y="3072384"/>
            <a:ext cx="7543800" cy="3520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28600" y="3511296"/>
            <a:ext cx="7543800" cy="0"/>
          </a:xfrm>
          <a:prstGeom prst="line">
            <a:avLst/>
          </a:prstGeom>
          <a:ln w="7620">
            <a:solidFill>
              <a:srgbClr val="E9E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38328" y="3191256"/>
            <a:ext cx="246888" cy="228600"/>
          </a:xfrm>
          <a:prstGeom prst="roundRect">
            <a:avLst/>
          </a:prstGeom>
          <a:solidFill>
            <a:srgbClr val="EFF8F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" y="3191256"/>
            <a:ext cx="24688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3523B"/>
                </a:solidFill>
                <a:latin typeface="Segoe UI"/>
              </a:rPr>
              <a:t>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" y="3172968"/>
            <a:ext cx="69951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1D"/>
                </a:solidFill>
                <a:latin typeface="Segoe UI"/>
              </a:rPr>
              <a:t>Demissões e exonerações por mês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" y="3346703"/>
            <a:ext cx="69951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D7973"/>
                </a:solidFill>
                <a:latin typeface="Segoe UI"/>
              </a:rPr>
              <a:t>340 das 547 saídas · janeiro a agosto de 2026</a:t>
            </a:r>
          </a:p>
        </p:txBody>
      </p:sp>
      <p:graphicFrame>
        <p:nvGraphicFramePr>
          <p:cNvPr id="73" name="Chart 72"/>
          <p:cNvGraphicFramePr>
            <a:graphicFrameLocks noGrp="1"/>
          </p:cNvGraphicFramePr>
          <p:nvPr/>
        </p:nvGraphicFramePr>
        <p:xfrm>
          <a:off x="420624" y="3611880"/>
          <a:ext cx="7095744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420624" y="6300216"/>
            <a:ext cx="69494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6D7973"/>
                </a:solidFill>
                <a:latin typeface="Segoe UI"/>
              </a:rPr>
              <a:t>Esta série detalha 340 das 547 saídas; maio concentrou 165 demissões/exonerações.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82127" y="3072384"/>
            <a:ext cx="4078224" cy="3520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882127" y="3511296"/>
            <a:ext cx="4078224" cy="0"/>
          </a:xfrm>
          <a:prstGeom prst="line">
            <a:avLst/>
          </a:prstGeom>
          <a:ln w="7620">
            <a:solidFill>
              <a:srgbClr val="E9E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991855" y="3191256"/>
            <a:ext cx="246888" cy="228600"/>
          </a:xfrm>
          <a:prstGeom prst="roundRect">
            <a:avLst/>
          </a:prstGeom>
          <a:solidFill>
            <a:srgbClr val="EFF8F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91855" y="3191256"/>
            <a:ext cx="24688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3523B"/>
                </a:solidFill>
                <a:latin typeface="Segoe UI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02752" y="3172968"/>
            <a:ext cx="3529584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1D"/>
                </a:solidFill>
                <a:latin typeface="Segoe UI"/>
              </a:rPr>
              <a:t>Aposentadorias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02752" y="3346703"/>
            <a:ext cx="3529584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D7973"/>
                </a:solidFill>
                <a:latin typeface="Segoe UI"/>
              </a:rPr>
              <a:t>Impacto nas promoções requeridas</a:t>
            </a:r>
          </a:p>
        </p:txBody>
      </p:sp>
      <p:graphicFrame>
        <p:nvGraphicFramePr>
          <p:cNvPr id="81" name="Chart 80"/>
          <p:cNvGraphicFramePr>
            <a:graphicFrameLocks noGrp="1"/>
          </p:cNvGraphicFramePr>
          <p:nvPr/>
        </p:nvGraphicFramePr>
        <p:xfrm>
          <a:off x="8613648" y="3685032"/>
          <a:ext cx="260604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9491472" y="4315968"/>
            <a:ext cx="84124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31D"/>
                </a:solidFill>
                <a:latin typeface="Segoe UI"/>
              </a:rPr>
              <a:t>207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912" y="4617720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D7973"/>
                </a:solidFill>
                <a:latin typeface="Segoe UI"/>
              </a:rPr>
              <a:t>Aposent.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02752" y="5806440"/>
            <a:ext cx="64008" cy="64008"/>
          </a:xfrm>
          <a:prstGeom prst="rect">
            <a:avLst/>
          </a:prstGeom>
          <a:solidFill>
            <a:srgbClr val="698342"/>
          </a:solidFill>
          <a:ln w="8890">
            <a:solidFill>
              <a:srgbClr val="698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1624" y="5760720"/>
            <a:ext cx="18288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30" b="0">
                <a:solidFill>
                  <a:srgbClr val="6D7973"/>
                </a:solidFill>
                <a:latin typeface="Segoe UI"/>
              </a:rPr>
              <a:t>Acesso ao oficialato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18520" y="5760720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30" b="1">
                <a:solidFill>
                  <a:srgbClr val="16231D"/>
                </a:solidFill>
                <a:latin typeface="Segoe UI"/>
              </a:rPr>
              <a:t>153 · 73,9%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02752" y="6016752"/>
            <a:ext cx="64008" cy="64008"/>
          </a:xfrm>
          <a:prstGeom prst="rect">
            <a:avLst/>
          </a:prstGeom>
          <a:solidFill>
            <a:srgbClr val="3B7E9D"/>
          </a:solidFill>
          <a:ln w="8890">
            <a:solidFill>
              <a:srgbClr val="3B7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21624" y="5971032"/>
            <a:ext cx="18288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30" b="0">
                <a:solidFill>
                  <a:srgbClr val="6D7973"/>
                </a:solidFill>
                <a:latin typeface="Segoe UI"/>
              </a:rPr>
              <a:t>Entre postos de oficiais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18520" y="597103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30" b="1">
                <a:solidFill>
                  <a:srgbClr val="16231D"/>
                </a:solidFill>
                <a:latin typeface="Segoe UI"/>
              </a:rPr>
              <a:t>54 · 26,1%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600" y="6684264"/>
            <a:ext cx="384048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" b="1">
                <a:solidFill>
                  <a:srgbClr val="6D7973"/>
                </a:solidFill>
                <a:latin typeface="Segoe UI"/>
              </a:rPr>
              <a:t>POLÍCIA MILITAR DO CEARÁ · PAINEL ESTRATÉGICO INSTITUCIONAL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19488" y="6684264"/>
            <a:ext cx="233172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420" b="0">
                <a:solidFill>
                  <a:srgbClr val="13523B"/>
                </a:solidFill>
                <a:latin typeface="Segoe UI"/>
              </a:rPr>
              <a:t>●  Fontes consolidadas em 09/09/2026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37160"/>
            <a:ext cx="11731752" cy="713232"/>
          </a:xfrm>
          <a:prstGeom prst="roundRect">
            <a:avLst/>
          </a:prstGeom>
          <a:solidFill>
            <a:srgbClr val="0D3C2D"/>
          </a:solidFill>
          <a:ln w="8890">
            <a:solidFill>
              <a:srgbClr val="0D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37160"/>
            <a:ext cx="2450592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D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b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65176"/>
            <a:ext cx="2029968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52928" y="246888"/>
            <a:ext cx="18288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74D5A6"/>
                </a:solidFill>
                <a:latin typeface="Segoe UI"/>
              </a:rPr>
              <a:t>GESTÃO DE PESSOAL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384048"/>
            <a:ext cx="56692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De onde estão saindo os militares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640080"/>
            <a:ext cx="50292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7D0C6"/>
                </a:solidFill>
                <a:latin typeface="Segoe UI"/>
              </a:rPr>
              <a:t>Origem por batalhão e município · dados agregados, sem nomes ou matrículas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301752"/>
            <a:ext cx="11887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459" b="0">
                <a:solidFill>
                  <a:srgbClr val="B7D0C6"/>
                </a:solidFill>
                <a:latin typeface="Segoe UI"/>
              </a:rPr>
              <a:t>PERÍODO DA 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048" y="475488"/>
            <a:ext cx="144475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Segoe UI"/>
              </a:rPr>
              <a:t>01/01 a 10/08/2026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56848" y="320040"/>
            <a:ext cx="329184" cy="329184"/>
          </a:xfrm>
          <a:prstGeom prst="roundRect">
            <a:avLst/>
          </a:prstGeom>
          <a:solidFill>
            <a:srgbClr val="234F40"/>
          </a:solidFill>
          <a:ln w="8890">
            <a:solidFill>
              <a:srgbClr val="537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56848" y="32004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950976"/>
            <a:ext cx="1173175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024128"/>
            <a:ext cx="22860" cy="201168"/>
          </a:xfrm>
          <a:prstGeom prst="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996696"/>
            <a:ext cx="21031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6231D"/>
                </a:solidFill>
                <a:latin typeface="Segoe UI"/>
              </a:rPr>
              <a:t>Leitura territorial das saídas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1133856"/>
            <a:ext cx="5852160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6D7973"/>
                </a:solidFill>
                <a:latin typeface="Segoe UI"/>
              </a:rPr>
              <a:t>O ranking cobre demissões e exonerações individualizadas; aposentadorias não possuem unidade de origem na base atual.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9024" y="1024128"/>
            <a:ext cx="1261872" cy="182880"/>
          </a:xfrm>
          <a:prstGeom prst="roundRect">
            <a:avLst/>
          </a:prstGeom>
          <a:solidFill>
            <a:srgbClr val="EFF8F3"/>
          </a:solidFill>
          <a:ln w="8890">
            <a:solidFill>
              <a:srgbClr val="EF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024128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3523B"/>
                </a:solidFill>
                <a:latin typeface="Segoe UI"/>
              </a:rPr>
              <a:t>326 registros únicos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1417320"/>
            <a:ext cx="3767328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1481328"/>
            <a:ext cx="32004" cy="493776"/>
          </a:xfrm>
          <a:prstGeom prst="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1517904"/>
            <a:ext cx="21488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6D7973"/>
                </a:solidFill>
                <a:latin typeface="Segoe UI"/>
              </a:rPr>
              <a:t>REGISTROS COM ORIGEM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527048"/>
            <a:ext cx="65836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3C2D"/>
                </a:solidFill>
                <a:latin typeface="Segoe UI"/>
              </a:rPr>
              <a:t>326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" y="1746504"/>
            <a:ext cx="331012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6D7973"/>
                </a:solidFill>
                <a:latin typeface="Segoe UI"/>
              </a:rPr>
              <a:t>Demissões e exonerações individualizadas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417320"/>
            <a:ext cx="3767328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481328"/>
            <a:ext cx="32004" cy="493776"/>
          </a:xfrm>
          <a:prstGeom prst="rect">
            <a:avLst/>
          </a:prstGeom>
          <a:solidFill>
            <a:srgbClr val="13523B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1517904"/>
            <a:ext cx="21488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6D7973"/>
                </a:solidFill>
                <a:latin typeface="Segoe UI"/>
              </a:rPr>
              <a:t>BATALHÕES DESTACADOS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1527048"/>
            <a:ext cx="65836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3C2D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1746504"/>
            <a:ext cx="331012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6D7973"/>
                </a:solidFill>
                <a:latin typeface="Segoe UI"/>
              </a:rPr>
              <a:t>BPMs no ranking territorial de origens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417320"/>
            <a:ext cx="3767328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1481328"/>
            <a:ext cx="32004" cy="493776"/>
          </a:xfrm>
          <a:prstGeom prst="rect">
            <a:avLst/>
          </a:prstGeom>
          <a:solidFill>
            <a:srgbClr val="C1A25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3" y="1517904"/>
            <a:ext cx="21488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6D7973"/>
                </a:solidFill>
                <a:latin typeface="Segoe UI"/>
              </a:rPr>
              <a:t>MUNICÍPIOS IDENTIFICADOS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19" y="1527048"/>
            <a:ext cx="65836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3C2D"/>
                </a:solidFill>
                <a:latin typeface="Segoe UI"/>
              </a:rPr>
              <a:t>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1746504"/>
            <a:ext cx="331012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6D7973"/>
                </a:solidFill>
                <a:latin typeface="Segoe UI"/>
              </a:rPr>
              <a:t>Fortaleza concentra 153 registros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2185416"/>
            <a:ext cx="5742432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28600" y="2624328"/>
            <a:ext cx="5742432" cy="0"/>
          </a:xfrm>
          <a:prstGeom prst="line">
            <a:avLst/>
          </a:prstGeom>
          <a:ln w="7620">
            <a:solidFill>
              <a:srgbClr val="E9E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38328" y="2304288"/>
            <a:ext cx="246888" cy="228600"/>
          </a:xfrm>
          <a:prstGeom prst="roundRect">
            <a:avLst/>
          </a:prstGeom>
          <a:solidFill>
            <a:srgbClr val="EFF8F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2304288"/>
            <a:ext cx="24688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3523B"/>
                </a:solidFill>
                <a:latin typeface="Segoe UI"/>
              </a:rPr>
              <a:t>03A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2286000"/>
            <a:ext cx="519379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1D"/>
                </a:solidFill>
                <a:latin typeface="Segoe UI"/>
              </a:rPr>
              <a:t>Batalhões com mais saídas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2459736"/>
            <a:ext cx="519379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D7973"/>
                </a:solidFill>
                <a:latin typeface="Segoe UI"/>
              </a:rPr>
              <a:t>BPMs presentes entre as principais origens · Top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2834640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2834640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12º BPM · Caucaia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9424" y="2866644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49424" y="2866644"/>
            <a:ext cx="2578607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4064" y="2834640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17 · 5,2%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3209544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" y="3209544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17º BPM · Fortaleza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49424" y="3241548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249424" y="3241548"/>
            <a:ext cx="2123559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3209544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14 · 4,3%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3584448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" y="3584448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18º BPM · Fortaleza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49424" y="3616452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49424" y="3616452"/>
            <a:ext cx="2123559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3584448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14 · 4,3%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3959352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" y="3959352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6º BPM · Fortaleza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49424" y="3991356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249424" y="3991356"/>
            <a:ext cx="2123559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84064" y="3959352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14 · 4,3%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" y="4334256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4334256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19º BPM · Fortaleza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49424" y="4366260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249424" y="4366260"/>
            <a:ext cx="1820193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84064" y="4334256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12 · 3,7%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" y="4709160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" y="4709160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20º BPM · Fortaleza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49424" y="4741164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9424" y="4741164"/>
            <a:ext cx="1668511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84064" y="4709160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11 · 3,4%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" y="5084064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" y="5084064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24º BPM · Maranguape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49424" y="5116068"/>
            <a:ext cx="2578607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249424" y="5116068"/>
            <a:ext cx="1516828" cy="68580"/>
          </a:xfrm>
          <a:prstGeom prst="roundRect">
            <a:avLst/>
          </a:prstGeom>
          <a:solidFill>
            <a:srgbClr val="1B8258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84064" y="5084064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10 · 3,1%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8912" y="5989320"/>
            <a:ext cx="52578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6D7973"/>
                </a:solidFill>
                <a:latin typeface="Segoe UI"/>
              </a:rPr>
              <a:t>O 12º BPM lidera o recorte por batalhão, com 17 registros (5,2% do total individualizado).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08192" y="2185416"/>
            <a:ext cx="585216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108192" y="2624328"/>
            <a:ext cx="5852160" cy="0"/>
          </a:xfrm>
          <a:prstGeom prst="line">
            <a:avLst/>
          </a:prstGeom>
          <a:ln w="7620">
            <a:solidFill>
              <a:srgbClr val="E9E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217920" y="2304288"/>
            <a:ext cx="246888" cy="228600"/>
          </a:xfrm>
          <a:prstGeom prst="roundRect">
            <a:avLst/>
          </a:prstGeom>
          <a:solidFill>
            <a:srgbClr val="EFF8F3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2304288"/>
            <a:ext cx="24688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3523B"/>
                </a:solidFill>
                <a:latin typeface="Segoe UI"/>
              </a:rPr>
              <a:t>03B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28816" y="2286000"/>
            <a:ext cx="530352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1D"/>
                </a:solidFill>
                <a:latin typeface="Segoe UI"/>
              </a:rPr>
              <a:t>Municípios com mais saídas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8816" y="2459736"/>
            <a:ext cx="5303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D7973"/>
                </a:solidFill>
                <a:latin typeface="Segoe UI"/>
              </a:rPr>
              <a:t>Município informado no registro · Top 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18504" y="2834640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28816" y="2834640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Fortaleza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690104" y="2866644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690104" y="2866644"/>
            <a:ext cx="3118104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064240" y="2834640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153 · 46,9%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18504" y="3191256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28816" y="3191256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Caucaia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690104" y="3223260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690104" y="3223260"/>
            <a:ext cx="550253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064240" y="3191256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27 · 8,3%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18504" y="3547872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8816" y="3547872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Maracanaú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690104" y="3579876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690104" y="3579876"/>
            <a:ext cx="244557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64240" y="3547872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12 · 3,7%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18504" y="3904487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28816" y="3904487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Maranguape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690104" y="3936491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90104" y="3936491"/>
            <a:ext cx="163038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64240" y="3904487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8 · 2,5%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18504" y="4261104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28816" y="4261104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Juazeiro do Norte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690104" y="4293108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690104" y="4293108"/>
            <a:ext cx="163038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64240" y="4261104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8 · 2,5%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18504" y="4617720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28816" y="4617720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Quixadá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90104" y="4649724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690104" y="4649724"/>
            <a:ext cx="142658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064240" y="4617720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7 · 2,1%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18504" y="4974336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28816" y="4974336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Eusébio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90104" y="5006340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690104" y="5006340"/>
            <a:ext cx="122278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064240" y="4974336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6 · 1,8%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8504" y="5330952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A49F"/>
                </a:solidFill>
                <a:latin typeface="Segoe UI"/>
              </a:rPr>
              <a:t>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28816" y="5330952"/>
            <a:ext cx="11155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526059"/>
                </a:solidFill>
                <a:latin typeface="Segoe UI"/>
              </a:rPr>
              <a:t>Sobral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690104" y="5362956"/>
            <a:ext cx="3118104" cy="68580"/>
          </a:xfrm>
          <a:prstGeom prst="roundRect">
            <a:avLst/>
          </a:prstGeom>
          <a:solidFill>
            <a:srgbClr val="EAF0E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690104" y="5362956"/>
            <a:ext cx="122278" cy="68580"/>
          </a:xfrm>
          <a:prstGeom prst="roundRect">
            <a:avLst/>
          </a:prstGeom>
          <a:solidFill>
            <a:srgbClr val="3B7E9D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0" y="5330952"/>
            <a:ext cx="6583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6231D"/>
                </a:solidFill>
                <a:latin typeface="Segoe UI"/>
              </a:rPr>
              <a:t>6 · 1,8%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18504" y="5989320"/>
            <a:ext cx="52578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6D7973"/>
                </a:solidFill>
                <a:latin typeface="Segoe UI"/>
              </a:rPr>
              <a:t>Fortaleza reúne 153 registros, equivalentes a 46,9% do recorte individualizado.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8912" y="6199632"/>
            <a:ext cx="11283696" cy="201168"/>
          </a:xfrm>
          <a:prstGeom prst="roundRect">
            <a:avLst/>
          </a:prstGeom>
          <a:solidFill>
            <a:srgbClr val="FBF8EF"/>
          </a:solidFill>
          <a:ln w="6350">
            <a:solidFill>
              <a:srgbClr val="EEE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6227064"/>
            <a:ext cx="1104595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" b="0">
                <a:solidFill>
                  <a:srgbClr val="806D3C"/>
                </a:solidFill>
                <a:latin typeface="Segoe UI"/>
              </a:rPr>
              <a:t>Cobertura metodológica: 326 registros únicos. O total executivo de 340 segue a base mensal consolidada; as 207 aposentadorias não possuem origem territorial informada.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" y="6684264"/>
            <a:ext cx="384048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" b="1">
                <a:solidFill>
                  <a:srgbClr val="6D7973"/>
                </a:solidFill>
                <a:latin typeface="Segoe UI"/>
              </a:rPr>
              <a:t>POLÍCIA MILITAR DO CEARÁ · PAINEL ESTRATÉGICO INSTITUCIONAL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41080" y="6684264"/>
            <a:ext cx="3319272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420" b="0">
                <a:solidFill>
                  <a:srgbClr val="13523B"/>
                </a:solidFill>
                <a:latin typeface="Segoe UI"/>
              </a:rPr>
              <a:t>●  Dados agregados · sem exposição de informações pessoais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Gestão de Pessoal e Expansão - PMCE</dc:title>
  <dc:subject>Indicadores estratégicos consolidados de 2025-2026</dc:subject>
  <dc:creator>Polícia Militar do Ceará</dc:creator>
  <cp:keywords/>
  <dc:description>Dois slides com elementos, textos e gráficos editáveis em formato 16:9.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